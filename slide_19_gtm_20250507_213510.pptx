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43" d="100"/>
          <a:sy n="143" d="100"/>
        </p:scale>
        <p:origin x="1304" y="4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4264c9c79_2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4264c9c79_2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54264c9c79_2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54264c9c79_2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54264c9c79_2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54264c9c79_2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4264c9c79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4264c9c79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4264c9c79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4264c9c79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54264c9c79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54264c9c79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54264c9c79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54264c9c79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54264c9c79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54264c9c79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54264c9c79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54264c9c79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54264c9c79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54264c9c79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54264c9c79_1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54264c9c79_1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54264c9c79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54264c9c79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54264c9c79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54264c9c79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54264c9c7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54264c9c7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54264c9c79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54264c9c79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54264c9c79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54264c9c79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54264c9c79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54264c9c79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54264c9c79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54264c9c79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54264c9c79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54264c9c79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54264c9c79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54264c9c79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54264c9c79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54264c9c79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ithub.com/datablockset/blockset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ithub.com/functionalscript/functionalscript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t>NoLock Social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r>
              <a:t>Rebuild Trust in the Digital Space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/>
              <a:t>A next-generation platform rebuilding digital trust with decentralized identity in a $12B market.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/>
              <a:t>A next-generation platform rebuilding digital trust with decentralized identity in a $12B market.</a:t>
            </a:r>
          </a:p>
          <a:p/>
        </p:txBody>
      </p:sp>
      <p:sp>
        <p:nvSpPr>
          <p:cNvPr id="58" name="TextBox 57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914400" y="22860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i="1" sz="1400"/>
              <a:t>A next-generation platform rebuilding digital trust with decentralized identity in a $12B market.</a:t>
            </a:r>
          </a:p>
          <a:p/>
          <a:p>
            <a:pPr algn="ctr"/>
            <a:r>
              <a:rPr b="1" sz="1600"/>
              <a:t>Pre-Seed Investment Opportunity</a:t>
            </a:r>
          </a:p>
          <a:p/>
          <a:p>
            <a:pPr algn="ctr"/>
            <a:r>
              <a:rPr sz="1200" b="1"/>
              <a:t>• Next-Generation Trust Infrastructure</a:t>
            </a:r>
          </a:p>
          <a:p>
            <a:pPr algn="ctr"/>
            <a:r>
              <a:rPr sz="1200" b="1"/>
              <a:t>• Decentralized Identity and Social Tools</a:t>
            </a:r>
          </a:p>
          <a:p>
            <a:pPr algn="ctr"/>
            <a:r>
              <a:rPr sz="1200"/>
              <a:t>• $12.1B Market | 25% Annual Growth Rate</a:t>
            </a:r>
          </a:p>
          <a:p/>
          <a:p>
            <a:pPr algn="ctr"/>
            <a:r>
              <a:rPr i="1" sz="1000" u="sng">
                <a:solidFill>
                  <a:srgbClr val="0000FF"/>
                </a:solidFill>
              </a:rPr>
              <a:t>Source: Market Research Future (MRFR)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572450" y="581075"/>
            <a:ext cx="4472100" cy="52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The Problem I</a:t>
            </a:r>
          </a:p>
        </p:txBody>
      </p:sp>
      <p:sp>
        <p:nvSpPr>
          <p:cNvPr id="61" name="Google Shape;61;p14"/>
          <p:cNvSpPr txBox="1">
            <a:spLocks noGrp="1"/>
          </p:cNvSpPr>
          <p:nvPr>
            <p:ph type="subTitle" idx="1"/>
          </p:nvPr>
        </p:nvSpPr>
        <p:spPr>
          <a:xfrm>
            <a:off x="337525" y="1301850"/>
            <a:ext cx="8520600" cy="190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Distrust in Digital Space</a:t>
            </a: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350" y="2008248"/>
            <a:ext cx="2682475" cy="261897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TextBox 62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i="1" sz="1400"/>
            </a:pPr>
            <a:r>
              <a:t>Content authenticity issues and lack of ownership create fundamental digital trust challenges.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-10000000" y="3200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• Content that can be secretly modified</a:t>
            </a:r>
          </a:p>
          <a:p>
            <a:pPr/>
            <a:r>
              <a:t>• No guarantee that what you see is what was produced</a:t>
            </a:r>
          </a:p>
          <a:p>
            <a:pPr/>
            <a:r>
              <a:t>• No inherent ownership means no responsibility</a:t>
            </a:r>
          </a:p>
          <a:p>
            <a:pPr/>
            <a:r>
              <a:t>• Rampant misinformation without accountability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-10000000" y="5486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i="1" sz="1200"/>
            </a:pPr>
            <a:r>
              <a:t>"76% of users struggle to identify authentic content in digital spaces"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600"/>
              <a:t>Content authenticity issues and lack of ownership create fundamental digital trust challenges.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-10000000" y="3200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b="1" i="0" sz="1400"/>
              <a:t>Content that can be secretly modified</a:t>
            </a:r>
          </a:p>
          <a:p>
            <a:pPr lvl="1"/>
            <a:r>
              <a:rPr b="0" i="0" sz="1200"/>
              <a:t>No guarantee that what you see is what was produced</a:t>
            </a:r>
          </a:p>
          <a:p>
            <a:pPr lvl="1"/>
            <a:r>
              <a:rPr b="0" i="1" sz="1200" u="sng">
                <a:solidFill>
                  <a:srgbClr val="0000FF"/>
                </a:solidFill>
              </a:rPr>
              <a:t>Source: Reuters Digital News Report</a:t>
            </a:r>
          </a:p>
          <a:p>
            <a:pPr/>
            <a:r>
              <a:rPr b="1" i="0" sz="1400"/>
              <a:t>No inherent ownership means no responsibility</a:t>
            </a:r>
          </a:p>
          <a:p>
            <a:pPr lvl="1"/>
            <a:r>
              <a:rPr b="0" i="0" sz="1200"/>
              <a:t>Rampant misinformation without accountability</a:t>
            </a:r>
          </a:p>
          <a:p>
            <a:pPr lvl="1"/>
            <a:r>
              <a:rPr b="0" i="1" sz="1200" u="sng">
                <a:solidFill>
                  <a:srgbClr val="0000FF"/>
                </a:solidFill>
              </a:rPr>
              <a:t>Source: World Economic Forum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-10000000" y="59436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400"/>
              <a:t>"76% of users struggle to identify authentic content in digital spaces"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/>
              <a:t>Content authenticity issues and lack of ownership create fundamental digital trust challenges.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-10000000" y="29718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b="1" i="0" sz="1100"/>
              <a:t>Content that can be secretly modified</a:t>
            </a:r>
          </a:p>
          <a:p>
            <a:pPr lvl="1"/>
            <a:r>
              <a:rPr b="0" i="0" sz="1000"/>
              <a:t>No guarantee that what you see is what was produced</a:t>
            </a:r>
          </a:p>
          <a:p>
            <a:pPr lvl="1"/>
            <a:r>
              <a:rPr b="0" i="1" sz="900" u="sng">
                <a:solidFill>
                  <a:srgbClr val="0000FF"/>
                </a:solidFill>
              </a:rPr>
              <a:t>Source: Reuters Digital News Report</a:t>
            </a:r>
          </a:p>
          <a:p>
            <a:pPr/>
            <a:r>
              <a:rPr b="1" i="0" sz="1100"/>
              <a:t>No inherent ownership means no responsibility</a:t>
            </a:r>
          </a:p>
          <a:p>
            <a:pPr lvl="1"/>
            <a:r>
              <a:rPr b="0" i="0" sz="1000"/>
              <a:t>Rampant misinformation without accountability</a:t>
            </a:r>
          </a:p>
          <a:p>
            <a:pPr lvl="1"/>
            <a:r>
              <a:rPr b="0" i="1" sz="900" u="sng">
                <a:solidFill>
                  <a:srgbClr val="0000FF"/>
                </a:solidFill>
              </a:rPr>
              <a:t>Source: World Economic Forum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-10000000" y="5486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100"/>
              <a:t>"76% of users struggle to identify authentic content in digital spaces"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/>
              <a:t>Content authenticity issues and lack of ownership create fundamental digital trust challenges.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-10000000" y="3200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b="1" i="1" sz="1100"/>
              <a:t>**Content that can be secretly modified**</a:t>
            </a:r>
          </a:p>
          <a:p>
            <a:pPr lvl="1"/>
            <a:r>
              <a:rPr b="0" i="0" sz="1000"/>
              <a:t>No guarantee that what you see is what was produced</a:t>
            </a:r>
          </a:p>
          <a:p>
            <a:pPr lvl="1"/>
            <a:r>
              <a:rPr b="0" i="0" sz="900" u="sng">
                <a:solidFill>
                  <a:srgbClr val="0000FF"/>
                </a:solidFill>
              </a:rPr>
              <a:t>Source: Reuters Digital News Report</a:t>
            </a:r>
          </a:p>
          <a:p>
            <a:pPr/>
            <a:r>
              <a:rPr b="1" i="1" sz="1100"/>
              <a:t>**No inherent ownership means no responsibility**</a:t>
            </a:r>
          </a:p>
          <a:p>
            <a:pPr lvl="1"/>
            <a:r>
              <a:rPr b="0" i="0" sz="1000"/>
              <a:t>Rampant misinformation without accountability</a:t>
            </a:r>
          </a:p>
          <a:p>
            <a:pPr lvl="1"/>
            <a:r>
              <a:rPr b="0" i="0" sz="900" u="sng">
                <a:solidFill>
                  <a:srgbClr val="0000FF"/>
                </a:solidFill>
              </a:rPr>
              <a:t>Source: World Economic Forum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-10000000" y="5486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100"/>
              <a:t>"76% of users struggle to identify authentic content in digital spaces"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/>
              <a:t>Content authenticity issues and lack of ownership create fundamental digital trust challenges.</a:t>
            </a:r>
          </a:p>
          <a:p/>
          <a:p>
            <a:r>
              <a:rPr b="1" i="1" sz="1100"/>
              <a:t>• **Content that can be secretly modified**</a:t>
            </a:r>
          </a:p>
          <a:p>
            <a:r>
              <a:rPr b="0" i="0" sz="1000"/>
              <a:t>   • No guarantee that what you see is what was produced</a:t>
            </a:r>
          </a:p>
          <a:p>
            <a:r>
              <a:rPr b="0" i="0" sz="900" u="sng">
                <a:solidFill>
                  <a:srgbClr val="0000FF"/>
                </a:solidFill>
              </a:rPr>
              <a:t>   • Source: Reuters Digital News Report</a:t>
            </a:r>
          </a:p>
          <a:p>
            <a:r>
              <a:rPr b="1" i="1" sz="1100"/>
              <a:t>• **No inherent ownership means no responsibility**</a:t>
            </a:r>
          </a:p>
          <a:p>
            <a:r>
              <a:rPr b="0" i="0" sz="1000"/>
              <a:t>   • Rampant misinformation without accountability</a:t>
            </a:r>
          </a:p>
          <a:p>
            <a:r>
              <a:rPr b="0" i="0" sz="900" u="sng">
                <a:solidFill>
                  <a:srgbClr val="0000FF"/>
                </a:solidFill>
              </a:rPr>
              <a:t>   • Source: World Economic Forum</a:t>
            </a:r>
          </a:p>
          <a:p/>
          <a:p>
            <a:pPr algn="ctr"/>
            <a:r>
              <a:rPr i="1" sz="1100"/>
              <a:t>"76% of users struggle to identify authentic content in digital spaces"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/>
              <a:t>Content authenticity issues and lack of ownership create fundamental digital trust challenges.</a:t>
            </a:r>
          </a:p>
          <a:p/>
          <a:p>
            <a:r>
              <a:rPr b="1" i="1" sz="1100"/>
              <a:t>• **Content that can be secretly modified**</a:t>
            </a:r>
          </a:p>
          <a:p>
            <a:r>
              <a:rPr b="0" i="0" sz="1000"/>
              <a:t>   • No guarantee that what you see is what was produced</a:t>
            </a:r>
          </a:p>
          <a:p>
            <a:r>
              <a:rPr b="0" i="0" sz="900" u="sng">
                <a:solidFill>
                  <a:srgbClr val="0000FF"/>
                </a:solidFill>
              </a:rPr>
              <a:t>   • Source: Reuters Digital News Report</a:t>
            </a:r>
          </a:p>
          <a:p>
            <a:r>
              <a:rPr b="1" i="1" sz="1100"/>
              <a:t>• **No inherent ownership means no responsibility**</a:t>
            </a:r>
          </a:p>
          <a:p>
            <a:r>
              <a:rPr b="0" i="0" sz="1000"/>
              <a:t>   • Rampant misinformation without accountability</a:t>
            </a:r>
          </a:p>
          <a:p>
            <a:r>
              <a:rPr b="0" i="0" sz="900" u="sng">
                <a:solidFill>
                  <a:srgbClr val="0000FF"/>
                </a:solidFill>
              </a:rPr>
              <a:t>   • Source: World Economic Forum</a:t>
            </a:r>
          </a:p>
          <a:p/>
          <a:p>
            <a:pPr algn="ctr"/>
            <a:r>
              <a:rPr i="1" sz="1100"/>
              <a:t>"76% of users struggle to identify authentic content in digital spaces"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b="1" sz="1200"/>
              <a:t>Critical Issues:</a:t>
            </a:r>
          </a:p>
          <a:p/>
          <a:p>
            <a:r>
              <a:rPr b="1" sz="1100"/>
              <a:t>• Content that can be secretly modified</a:t>
            </a:r>
          </a:p>
          <a:p>
            <a:pPr lvl="1"/>
            <a:r>
              <a:rPr b="0" sz="1000"/>
              <a:t>   • No guarantee that what you see is what was produced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Reuters Digital News Report</a:t>
            </a:r>
          </a:p>
          <a:p>
            <a:r>
              <a:rPr b="1" sz="1100"/>
              <a:t>• No inherent ownership means no responsibility</a:t>
            </a:r>
          </a:p>
          <a:p>
            <a:pPr lvl="1"/>
            <a:r>
              <a:rPr b="0" sz="1000"/>
              <a:t>   • Rampant misinformation without accountability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World Economic Forum</a:t>
            </a:r>
          </a:p>
          <a:p/>
          <a:p/>
          <a:p>
            <a:pPr algn="ctr"/>
            <a:r>
              <a:rPr i="1" sz="1100"/>
              <a:t>"76% of users struggle to identify authentic content in digital spaces"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subTitle" idx="1"/>
          </p:nvPr>
        </p:nvSpPr>
        <p:spPr>
          <a:xfrm>
            <a:off x="351775" y="1343950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/>
          </a:bodyPr>
          <a:lstStyle/>
          <a:p>
            <a:r>
              <a:t>The Problem II</a:t>
            </a: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192526"/>
            <a:ext cx="2851349" cy="2566226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>
            <a:spLocks noGrp="1"/>
          </p:cNvSpPr>
          <p:nvPr>
            <p:ph type="ctrTitle"/>
          </p:nvPr>
        </p:nvSpPr>
        <p:spPr>
          <a:xfrm>
            <a:off x="572450" y="581075"/>
            <a:ext cx="4472100" cy="52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Digital Vulnerability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/>
              <a:t>Centralized data vulnerabilities and the surveillance economy compromise user privacy and security.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-10000000" y="3200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b="1" i="1" sz="1100"/>
              <a:t>**Centralized data storage risks**</a:t>
            </a:r>
          </a:p>
          <a:p>
            <a:pPr lvl="1"/>
            <a:r>
              <a:rPr b="0" i="0" sz="1000"/>
              <a:t>Single point of failure for billions of users</a:t>
            </a:r>
          </a:p>
          <a:p>
            <a:pPr lvl="1"/>
            <a:r>
              <a:rPr b="0" i="0" sz="1000"/>
              <a:t>Frequent breaches compromising sensitive information</a:t>
            </a:r>
          </a:p>
          <a:p>
            <a:pPr lvl="1"/>
            <a:r>
              <a:rPr b="0" i="0" sz="900" u="sng">
                <a:solidFill>
                  <a:srgbClr val="0000FF"/>
                </a:solidFill>
              </a:rPr>
              <a:t>Source: Identity Theft Resource Center</a:t>
            </a:r>
          </a:p>
          <a:p>
            <a:pPr/>
            <a:r>
              <a:rPr b="1" i="1" sz="1100"/>
              <a:t>**User data as business model**</a:t>
            </a:r>
          </a:p>
          <a:p>
            <a:pPr lvl="1"/>
            <a:r>
              <a:rPr b="0" i="0" sz="1000"/>
              <a:t>$450B market built on privacy exploitation</a:t>
            </a:r>
          </a:p>
          <a:p>
            <a:pPr lvl="1"/>
            <a:r>
              <a:rPr b="0" i="0" sz="900" u="sng">
                <a:solidFill>
                  <a:srgbClr val="0000FF"/>
                </a:solidFill>
              </a:rPr>
              <a:t>Source: Harvard Business Review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-10000000" y="5486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100"/>
              <a:t>"Digital infrastructure is increasingly built on extractive economics rather than value creation"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/>
              <a:t>Centralized data vulnerabilities and the surveillance economy compromise user privacy and security.</a:t>
            </a:r>
          </a:p>
          <a:p/>
          <a:p>
            <a:r>
              <a:rPr b="1" i="1" sz="1100"/>
              <a:t>• **Centralized data storage risks**</a:t>
            </a:r>
          </a:p>
          <a:p>
            <a:r>
              <a:rPr b="0" i="0" sz="1000"/>
              <a:t>   • Single point of failure for billions of users</a:t>
            </a:r>
          </a:p>
          <a:p>
            <a:r>
              <a:rPr b="0" i="0" sz="1000"/>
              <a:t>   • Frequent breaches compromising sensitive information</a:t>
            </a:r>
          </a:p>
          <a:p>
            <a:r>
              <a:rPr b="0" i="0" sz="900" u="sng">
                <a:solidFill>
                  <a:srgbClr val="0000FF"/>
                </a:solidFill>
              </a:rPr>
              <a:t>   • Source: Identity Theft Resource Center</a:t>
            </a:r>
          </a:p>
          <a:p>
            <a:r>
              <a:rPr b="1" i="1" sz="1100"/>
              <a:t>• **User data as business model**</a:t>
            </a:r>
          </a:p>
          <a:p>
            <a:r>
              <a:rPr b="0" i="0" sz="1000"/>
              <a:t>   • $450B market built on privacy exploitation</a:t>
            </a:r>
          </a:p>
          <a:p>
            <a:r>
              <a:rPr b="0" i="0" sz="900" u="sng">
                <a:solidFill>
                  <a:srgbClr val="0000FF"/>
                </a:solidFill>
              </a:rPr>
              <a:t>   • Source: Harvard Business Review</a:t>
            </a:r>
          </a:p>
          <a:p/>
          <a:p>
            <a:pPr algn="ctr"/>
            <a:r>
              <a:rPr i="1" sz="1100"/>
              <a:t>"Digital infrastructure is increasingly built on extractive economics rather than value creation"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b="1" sz="1200"/>
              <a:t>Serious Vulnerabilities:</a:t>
            </a:r>
          </a:p>
          <a:p/>
          <a:p>
            <a:r>
              <a:rPr b="1" sz="1100"/>
              <a:t>• Centralized data storage risks</a:t>
            </a:r>
          </a:p>
          <a:p>
            <a:pPr lvl="1"/>
            <a:r>
              <a:rPr b="0" sz="1000"/>
              <a:t>   • Single point of failure for billions of users</a:t>
            </a:r>
          </a:p>
          <a:p>
            <a:pPr lvl="1"/>
            <a:r>
              <a:rPr b="0" sz="1000"/>
              <a:t>   • Frequent breaches compromising sensitive information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Identity Theft Resource Center</a:t>
            </a:r>
          </a:p>
          <a:p>
            <a:r>
              <a:rPr b="1" sz="1100"/>
              <a:t>• User data as business model</a:t>
            </a:r>
          </a:p>
          <a:p>
            <a:pPr lvl="1"/>
            <a:r>
              <a:rPr b="0" sz="1000"/>
              <a:t>   • $450B market built on privacy exploitation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Harvard Business Review</a:t>
            </a:r>
          </a:p>
          <a:p/>
          <a:p/>
          <a:p>
            <a:pPr algn="ctr"/>
            <a:r>
              <a:rPr i="1" sz="1100"/>
              <a:t>"Digital infrastructure is increasingly built on extractive economics rather than value creation"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ctrTitle"/>
          </p:nvPr>
        </p:nvSpPr>
        <p:spPr>
          <a:xfrm>
            <a:off x="572450" y="581075"/>
            <a:ext cx="4472100" cy="52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The Problem III</a:t>
            </a:r>
          </a:p>
        </p:txBody>
      </p:sp>
      <p:sp>
        <p:nvSpPr>
          <p:cNvPr id="75" name="Google Shape;75;p16"/>
          <p:cNvSpPr txBox="1">
            <a:spLocks noGrp="1"/>
          </p:cNvSpPr>
          <p:nvPr>
            <p:ph type="subTitle" idx="1"/>
          </p:nvPr>
        </p:nvSpPr>
        <p:spPr>
          <a:xfrm>
            <a:off x="337525" y="1301850"/>
            <a:ext cx="8520600" cy="190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Trust Without Verification</a:t>
            </a:r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525" y="1896100"/>
            <a:ext cx="2430924" cy="23499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TextBox 76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/>
              <a:t>Current digital systems require blind trust in central authorities without transparency.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-10000000" y="3200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b="1" i="1" sz="1100"/>
              <a:t>**Trust without verification**</a:t>
            </a:r>
          </a:p>
          <a:p>
            <a:pPr lvl="1"/>
            <a:r>
              <a:rPr b="0" i="0" sz="1000"/>
              <a:t>Systems rely on blind trust in central authorities</a:t>
            </a:r>
          </a:p>
          <a:p>
            <a:pPr lvl="1"/>
            <a:r>
              <a:rPr b="0" i="0" sz="1000"/>
              <a:t>No transparency into data integrity</a:t>
            </a:r>
          </a:p>
          <a:p>
            <a:pPr lvl="1"/>
            <a:r>
              <a:rPr b="0" i="0" sz="900" u="sng">
                <a:solidFill>
                  <a:srgbClr val="0000FF"/>
                </a:solidFill>
              </a:rPr>
              <a:t>Source: World Economic Forum Trust Report</a:t>
            </a:r>
          </a:p>
          <a:p>
            <a:pPr/>
            <a:r>
              <a:rPr b="1" i="1" sz="1100"/>
              <a:t>**Siloed ecosystems**</a:t>
            </a:r>
          </a:p>
          <a:p>
            <a:pPr lvl="1"/>
            <a:r>
              <a:rPr b="0" i="0" sz="1000"/>
              <a:t>Walled gardens prevent interoperability</a:t>
            </a:r>
          </a:p>
          <a:p>
            <a:pPr lvl="1"/>
            <a:r>
              <a:rPr b="0" i="0" sz="1000"/>
              <a:t>User lock-in through platform dependence</a:t>
            </a:r>
          </a:p>
          <a:p>
            <a:pPr lvl="1"/>
            <a:r>
              <a:rPr b="0" i="0" sz="900" u="sng">
                <a:solidFill>
                  <a:srgbClr val="0000FF"/>
                </a:solidFill>
              </a:rPr>
              <a:t>Source: Competition in Digital Markets Report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-10000000" y="5486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100"/>
              <a:t>"83% of consumers express concern about how their data is being used online"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/>
              <a:t>Current digital systems require blind trust in central authorities without transparency.</a:t>
            </a:r>
          </a:p>
          <a:p/>
          <a:p>
            <a:r>
              <a:rPr b="1" i="1" sz="1100"/>
              <a:t>• **Trust without verification**</a:t>
            </a:r>
          </a:p>
          <a:p>
            <a:r>
              <a:rPr b="0" i="0" sz="1000"/>
              <a:t>   • Systems rely on blind trust in central authorities</a:t>
            </a:r>
          </a:p>
          <a:p>
            <a:r>
              <a:rPr b="0" i="0" sz="1000"/>
              <a:t>   • No transparency into data integrity</a:t>
            </a:r>
          </a:p>
          <a:p>
            <a:r>
              <a:rPr b="0" i="0" sz="900" u="sng">
                <a:solidFill>
                  <a:srgbClr val="0000FF"/>
                </a:solidFill>
              </a:rPr>
              <a:t>   • Source: World Economic Forum Trust Report</a:t>
            </a:r>
          </a:p>
          <a:p>
            <a:r>
              <a:rPr b="1" i="1" sz="1100"/>
              <a:t>• **Siloed ecosystems**</a:t>
            </a:r>
          </a:p>
          <a:p>
            <a:r>
              <a:rPr b="0" i="0" sz="1000"/>
              <a:t>   • Walled gardens prevent interoperability</a:t>
            </a:r>
          </a:p>
          <a:p>
            <a:r>
              <a:rPr b="0" i="0" sz="1000"/>
              <a:t>   • User lock-in through platform dependence</a:t>
            </a:r>
          </a:p>
          <a:p>
            <a:r>
              <a:rPr b="0" i="0" sz="900" u="sng">
                <a:solidFill>
                  <a:srgbClr val="0000FF"/>
                </a:solidFill>
              </a:rPr>
              <a:t>   • Source: Competition in Digital Markets Report</a:t>
            </a:r>
          </a:p>
          <a:p/>
          <a:p>
            <a:pPr algn="ctr"/>
            <a:r>
              <a:rPr i="1" sz="1100"/>
              <a:t>"83% of consumers express concern about how their data is being used online"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b="1" sz="1200"/>
              <a:t>Fundamental Design Flaws:</a:t>
            </a:r>
          </a:p>
          <a:p/>
          <a:p>
            <a:r>
              <a:rPr b="1" sz="1100"/>
              <a:t>• Trust without verification</a:t>
            </a:r>
          </a:p>
          <a:p>
            <a:pPr lvl="1"/>
            <a:r>
              <a:rPr b="0" sz="1000"/>
              <a:t>   • Systems rely on blind trust in central authorities</a:t>
            </a:r>
          </a:p>
          <a:p>
            <a:pPr lvl="1"/>
            <a:r>
              <a:rPr b="0" sz="1000"/>
              <a:t>   • No transparency into data integrity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World Economic Forum Trust Report</a:t>
            </a:r>
          </a:p>
          <a:p>
            <a:r>
              <a:rPr b="1" sz="1100"/>
              <a:t>• Siloed ecosystems</a:t>
            </a:r>
          </a:p>
          <a:p>
            <a:pPr lvl="1"/>
            <a:r>
              <a:rPr b="0" sz="1000"/>
              <a:t>   • Walled gardens prevent interoperability</a:t>
            </a:r>
          </a:p>
          <a:p>
            <a:pPr lvl="1"/>
            <a:r>
              <a:rPr b="0" sz="1000"/>
              <a:t>   • User lock-in through platform dependence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Competition in Digital Markets Report</a:t>
            </a:r>
          </a:p>
          <a:p/>
          <a:p/>
          <a:p>
            <a:pPr algn="ctr"/>
            <a:r>
              <a:rPr i="1" sz="1100"/>
              <a:t>"83% of consumers express concern about how their data is being used online"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ctrTitle"/>
          </p:nvPr>
        </p:nvSpPr>
        <p:spPr>
          <a:xfrm>
            <a:off x="572450" y="581075"/>
            <a:ext cx="4472100" cy="52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Our Vision</a:t>
            </a:r>
          </a:p>
        </p:txBody>
      </p:sp>
      <p:sp>
        <p:nvSpPr>
          <p:cNvPr id="82" name="Google Shape;82;p17"/>
          <p:cNvSpPr txBox="1">
            <a:spLocks noGrp="1"/>
          </p:cNvSpPr>
          <p:nvPr>
            <p:ph type="subTitle" idx="1"/>
          </p:nvPr>
        </p:nvSpPr>
        <p:spPr>
          <a:xfrm>
            <a:off x="337525" y="1301850"/>
            <a:ext cx="8520600" cy="190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A New Digital Infrastructure</a:t>
            </a:r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64050"/>
            <a:ext cx="3428650" cy="312705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TextBox 83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/>
              <a:t>Building a new trust layer based on cryptographic proof rather than blind trust.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-10000000" y="3200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b="1" i="1" sz="1100"/>
              <a:t>**Rebuilding digital trust through decentralized technology**</a:t>
            </a:r>
          </a:p>
          <a:p>
            <a:pPr lvl="1"/>
            <a:r>
              <a:rPr b="0" i="0" sz="1000"/>
              <a:t>User-controlled identity and content verification</a:t>
            </a:r>
          </a:p>
          <a:p>
            <a:pPr lvl="1"/>
            <a:r>
              <a:rPr b="0" i="0" sz="900" u="sng">
                <a:solidFill>
                  <a:srgbClr val="0000FF"/>
                </a:solidFill>
              </a:rPr>
              <a:t>Source: Web3 Foundation</a:t>
            </a:r>
          </a:p>
          <a:p>
            <a:pPr/>
            <a:r>
              <a:rPr b="1" i="1" sz="1100"/>
              <a:t>**Digital interactions based on cryptographic proof, not blind trust**</a:t>
            </a:r>
          </a:p>
          <a:p>
            <a:pPr lvl="1"/>
            <a:r>
              <a:rPr b="0" i="0" sz="1000"/>
              <a:t>Transparent content verification without central authority</a:t>
            </a:r>
          </a:p>
          <a:p>
            <a:pPr lvl="1"/>
            <a:r>
              <a:rPr b="0" i="0" sz="900" u="sng">
                <a:solidFill>
                  <a:srgbClr val="0000FF"/>
                </a:solidFill>
              </a:rPr>
              <a:t>Source: MIT Digital Currency Initiative</a:t>
            </a:r>
          </a:p>
          <a:p>
            <a:pPr/>
            <a:r>
              <a:rPr b="1" i="1" sz="1100"/>
              <a:t>**Networks of trust that mimic real-world social dynamics**</a:t>
            </a:r>
          </a:p>
          <a:p>
            <a:pPr lvl="1"/>
            <a:r>
              <a:rPr b="0" i="0" sz="1000"/>
              <a:t>Content filtering through trusted relationships, not algorithms</a:t>
            </a:r>
          </a:p>
          <a:p>
            <a:pPr lvl="1"/>
            <a:r>
              <a:rPr b="0" i="0" sz="900" u="sng">
                <a:solidFill>
                  <a:srgbClr val="0000FF"/>
                </a:solidFill>
              </a:rPr>
              <a:t>Source: Nature: Human Behavior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-10000000" y="5486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100"/>
              <a:t>""Creating digital spaces where trust can be earned rather than assumed""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/>
              <a:t>Building a new trust layer based on cryptographic proof rather than blind trust.</a:t>
            </a:r>
          </a:p>
          <a:p/>
          <a:p>
            <a:r>
              <a:rPr b="1" i="1" sz="1100"/>
              <a:t>• **Rebuilding digital trust through decentralized technology**</a:t>
            </a:r>
          </a:p>
          <a:p>
            <a:r>
              <a:rPr b="0" i="0" sz="1000"/>
              <a:t>   • User-controlled identity and content verification</a:t>
            </a:r>
          </a:p>
          <a:p>
            <a:r>
              <a:rPr b="0" i="0" sz="900" u="sng">
                <a:solidFill>
                  <a:srgbClr val="0000FF"/>
                </a:solidFill>
              </a:rPr>
              <a:t>   • Source: Web3 Foundation</a:t>
            </a:r>
          </a:p>
          <a:p>
            <a:r>
              <a:rPr b="1" i="1" sz="1100"/>
              <a:t>• **Digital interactions based on cryptographic proof, not blind trust**</a:t>
            </a:r>
          </a:p>
          <a:p>
            <a:r>
              <a:rPr b="0" i="0" sz="1000"/>
              <a:t>   • Transparent content verification without central authority</a:t>
            </a:r>
          </a:p>
          <a:p>
            <a:r>
              <a:rPr b="0" i="0" sz="900" u="sng">
                <a:solidFill>
                  <a:srgbClr val="0000FF"/>
                </a:solidFill>
              </a:rPr>
              <a:t>   • Source: MIT Digital Currency Initiative</a:t>
            </a:r>
          </a:p>
          <a:p>
            <a:r>
              <a:rPr b="1" i="1" sz="1100"/>
              <a:t>• **Networks of trust that mimic real-world social dynamics**</a:t>
            </a:r>
          </a:p>
          <a:p>
            <a:r>
              <a:rPr b="0" i="0" sz="1000"/>
              <a:t>   • Content filtering through trusted relationships, not algorithms</a:t>
            </a:r>
          </a:p>
          <a:p>
            <a:r>
              <a:rPr b="0" i="0" sz="900" u="sng">
                <a:solidFill>
                  <a:srgbClr val="0000FF"/>
                </a:solidFill>
              </a:rPr>
              <a:t>   • Source: Nature: Human Behavior</a:t>
            </a:r>
          </a:p>
          <a:p/>
          <a:p>
            <a:pPr algn="ctr"/>
            <a:r>
              <a:rPr i="1" sz="1100"/>
              <a:t>""Creating digital spaces where trust can be earned rather than assumed""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b="1" sz="1200"/>
              <a:t>Building a New Trust Layer:</a:t>
            </a:r>
          </a:p>
          <a:p/>
          <a:p>
            <a:r>
              <a:rPr b="1" sz="1100"/>
              <a:t>• Rebuilding digital trust through decentralized technology</a:t>
            </a:r>
          </a:p>
          <a:p>
            <a:pPr lvl="1"/>
            <a:r>
              <a:rPr b="0" sz="1000"/>
              <a:t>   • User-controlled identity and content verification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Web3 Foundation</a:t>
            </a:r>
          </a:p>
          <a:p>
            <a:r>
              <a:rPr b="1" sz="1100"/>
              <a:t>• Digital interactions based on cryptographic proof, not blind trust</a:t>
            </a:r>
          </a:p>
          <a:p>
            <a:pPr lvl="1"/>
            <a:r>
              <a:rPr b="0" sz="1000"/>
              <a:t>   • Transparent content verification without central authority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MIT Digital Currency Initiative</a:t>
            </a:r>
          </a:p>
          <a:p>
            <a:r>
              <a:rPr b="1" sz="1100"/>
              <a:t>• Networks of trust that mimic real-world social dynamics</a:t>
            </a:r>
          </a:p>
          <a:p>
            <a:pPr lvl="1"/>
            <a:r>
              <a:rPr b="0" sz="1000"/>
              <a:t>   • Content filtering through trusted relationships, not algorithms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Nature: Human Behavior</a:t>
            </a:r>
          </a:p>
          <a:p/>
          <a:p/>
          <a:p>
            <a:pPr algn="ctr"/>
            <a:r>
              <a:rPr i="1" sz="1100"/>
              <a:t>""Creating digital spaces where trust can be earned rather than assumed""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ctrTitle"/>
          </p:nvPr>
        </p:nvSpPr>
        <p:spPr>
          <a:xfrm>
            <a:off x="572450" y="581075"/>
            <a:ext cx="4472100" cy="52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Market Opportunity</a:t>
            </a:r>
          </a:p>
        </p:txBody>
      </p:sp>
      <p:sp>
        <p:nvSpPr>
          <p:cNvPr id="89" name="Google Shape;89;p18"/>
          <p:cNvSpPr txBox="1">
            <a:spLocks noGrp="1"/>
          </p:cNvSpPr>
          <p:nvPr>
            <p:ph type="subTitle" idx="1"/>
          </p:nvPr>
        </p:nvSpPr>
        <p:spPr>
          <a:xfrm>
            <a:off x="337525" y="1301850"/>
            <a:ext cx="8520600" cy="190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Decentralized Social Networks &amp; Digital Trust</a:t>
            </a:r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264625"/>
            <a:ext cx="3451750" cy="272647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TextBox 90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/>
              <a:t>A rapidly growing $12B market projected to reach $101B by 2033 with clear TAM/SAM/SOM breakdown.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-10000000" y="3200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b="0" i="0" sz="1100"/>
              <a:t>$12.13 billion in 2023</a:t>
            </a:r>
          </a:p>
          <a:p>
            <a:pPr/>
            <a:r>
              <a:rPr b="0" i="0" sz="1100"/>
              <a:t>Projected to reach $101.2 billion by 2033</a:t>
            </a:r>
          </a:p>
          <a:p>
            <a:pPr/>
            <a:r>
              <a:rPr b="0" i="0" sz="1100"/>
              <a:t>25% CAGR</a:t>
            </a:r>
          </a:p>
          <a:p>
            <a:pPr/>
            <a:r>
              <a:rPr b="0" i="0" sz="900" u="sng">
                <a:solidFill>
                  <a:srgbClr val="0000FF"/>
                </a:solidFill>
              </a:rPr>
              <a:t>Source: Market Research Future (MRFR)</a:t>
            </a:r>
          </a:p>
          <a:p>
            <a:pPr/>
            <a:r>
              <a:rPr b="0" i="0" sz="1100"/>
              <a:t>$4.8 billion (40% of TAM)</a:t>
            </a:r>
          </a:p>
          <a:p>
            <a:pPr/>
            <a:r>
              <a:rPr b="0" i="0" sz="1100"/>
              <a:t>Identity &amp; content verification segments</a:t>
            </a:r>
          </a:p>
          <a:p>
            <a:pPr/>
            <a:r>
              <a:rPr b="0" i="0" sz="900" u="sng">
                <a:solidFill>
                  <a:srgbClr val="0000FF"/>
                </a:solidFill>
              </a:rPr>
              <a:t>Source: Grand View Research</a:t>
            </a:r>
          </a:p>
          <a:p>
            <a:pPr/>
            <a:r>
              <a:rPr b="0" i="0" sz="1100"/>
              <a:t>Year 1: $24 million (0.5% of SAM)</a:t>
            </a:r>
          </a:p>
          <a:p>
            <a:pPr/>
            <a:r>
              <a:rPr b="0" i="0" sz="1100"/>
              <a:t>Year 3: $240 million (5% of SAM)</a:t>
            </a:r>
          </a:p>
          <a:p>
            <a:pPr/>
            <a:r>
              <a:rPr b="0" i="0" sz="1100" u="sng">
                <a:solidFill>
                  <a:srgbClr val="0000FF"/>
                </a:solidFill>
              </a:rPr>
              <a:t>Based on projected adoption rates for Web3 technologies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/>
              <a:t>A rapidly growing $12B market projected to reach $101B by 2033 with clear TAM/SAM/SOM breakdown.</a:t>
            </a:r>
          </a:p>
          <a:p/>
          <a:p>
            <a:r>
              <a:rPr b="0" i="0" sz="1100"/>
              <a:t>• $12.13 billion in 2023</a:t>
            </a:r>
          </a:p>
          <a:p>
            <a:r>
              <a:rPr b="0" i="0" sz="1100"/>
              <a:t>• Projected to reach $101.2 billion by 2033</a:t>
            </a:r>
          </a:p>
          <a:p>
            <a:r>
              <a:rPr b="0" i="0" sz="1100"/>
              <a:t>• 25% CAGR</a:t>
            </a:r>
          </a:p>
          <a:p>
            <a:r>
              <a:rPr b="0" i="0" sz="900" u="sng">
                <a:solidFill>
                  <a:srgbClr val="0000FF"/>
                </a:solidFill>
              </a:rPr>
              <a:t>• Source: Market Research Future (MRFR)</a:t>
            </a:r>
          </a:p>
          <a:p>
            <a:r>
              <a:rPr b="0" i="0" sz="1100"/>
              <a:t>• $4.8 billion (40% of TAM)</a:t>
            </a:r>
          </a:p>
          <a:p>
            <a:r>
              <a:rPr b="0" i="0" sz="1100"/>
              <a:t>• Identity &amp; content verification segments</a:t>
            </a:r>
          </a:p>
          <a:p>
            <a:r>
              <a:rPr b="0" i="0" sz="900" u="sng">
                <a:solidFill>
                  <a:srgbClr val="0000FF"/>
                </a:solidFill>
              </a:rPr>
              <a:t>• Source: Grand View Research</a:t>
            </a:r>
          </a:p>
          <a:p>
            <a:r>
              <a:rPr b="0" i="0" sz="1100"/>
              <a:t>• Year 1: $24 million (0.5% of SAM)</a:t>
            </a:r>
          </a:p>
          <a:p>
            <a:r>
              <a:rPr b="0" i="0" sz="1100"/>
              <a:t>• Year 3: $240 million (5% of SAM)</a:t>
            </a:r>
          </a:p>
          <a:p>
            <a:r>
              <a:rPr b="0" i="0" sz="1100" u="sng">
                <a:solidFill>
                  <a:srgbClr val="0000FF"/>
                </a:solidFill>
              </a:rPr>
              <a:t>• Based on projected adoption rates for Web3 technologies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 i="1"/>
              <a:t>A rapidly growing $12B market projected to reach $101B by 2033 with clear TAM/SAM/SOM breakdown.</a:t>
            </a:r>
          </a:p>
          <a:p/>
          <a:p>
            <a:r>
              <a:rPr b="1" sz="1200" i="0"/>
              <a:t>Market Analysis:</a:t>
            </a:r>
          </a:p>
          <a:p/>
          <a:p>
            <a:r>
              <a:rPr b="1" sz="1200" i="0"/>
              <a:t>Total Addressable Market (TAM):</a:t>
            </a:r>
          </a:p>
          <a:p>
            <a:r>
              <a:rPr b="0" sz="1100" i="0"/>
              <a:t>• $12.13 billion in 2023</a:t>
            </a:r>
          </a:p>
          <a:p>
            <a:r>
              <a:rPr b="0" sz="1100" i="0"/>
              <a:t>• Projected to reach $101.2 billion by 2033</a:t>
            </a:r>
          </a:p>
          <a:p>
            <a:r>
              <a:rPr b="0" sz="1100" i="0"/>
              <a:t>• 25% CAGR</a:t>
            </a:r>
          </a:p>
          <a:p>
            <a:r>
              <a:rPr b="0" sz="1000" i="0" u="sng">
                <a:solidFill>
                  <a:srgbClr val="0000FF"/>
                </a:solidFill>
              </a:rPr>
              <a:t>• Source: Market Research Future (MRFR)</a:t>
            </a:r>
          </a:p>
          <a:p/>
          <a:p>
            <a:r>
              <a:rPr b="1" sz="1200" i="0"/>
              <a:t>Serviceable Addressable Market (SAM):</a:t>
            </a:r>
          </a:p>
          <a:p>
            <a:r>
              <a:rPr b="0" sz="1100" i="0"/>
              <a:t>• $4.8 billion (40% of TAM)</a:t>
            </a:r>
          </a:p>
          <a:p>
            <a:r>
              <a:rPr b="0" sz="1100" i="0"/>
              <a:t>• Identity &amp; content verification segments</a:t>
            </a:r>
          </a:p>
          <a:p>
            <a:r>
              <a:rPr b="0" sz="1000" i="0" u="sng">
                <a:solidFill>
                  <a:srgbClr val="0000FF"/>
                </a:solidFill>
              </a:rPr>
              <a:t>• Source: Grand View Research</a:t>
            </a:r>
          </a:p>
          <a:p/>
          <a:p>
            <a:r>
              <a:rPr b="1" sz="1200" i="0"/>
              <a:t>Serviceable Obtainable Market (SOM):</a:t>
            </a:r>
          </a:p>
          <a:p>
            <a:r>
              <a:rPr b="0" sz="1100" i="0"/>
              <a:t>• Year 1: $24 million (0.5% of SAM)</a:t>
            </a:r>
          </a:p>
          <a:p>
            <a:r>
              <a:rPr b="0" sz="1100" i="0"/>
              <a:t>• Year 3: $240 million (5% of SAM)</a:t>
            </a:r>
          </a:p>
          <a:p>
            <a:r>
              <a:rPr b="0" sz="1000" i="0" u="sng">
                <a:solidFill>
                  <a:srgbClr val="0000FF"/>
                </a:solidFill>
              </a:rPr>
              <a:t>• Based on projected adoption rates for Web3 technologies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b="1" sz="1200"/>
              <a:t>Market Analysis:</a:t>
            </a:r>
          </a:p>
          <a:p/>
          <a:p>
            <a:r>
              <a:rPr b="0" sz="1100"/>
              <a:t>• $12.13 billion in 2023</a:t>
            </a:r>
          </a:p>
          <a:p>
            <a:r>
              <a:rPr b="0" sz="1100"/>
              <a:t>• Projected to reach $101.2 billion by 2033</a:t>
            </a:r>
          </a:p>
          <a:p>
            <a:r>
              <a:rPr b="0" sz="1100"/>
              <a:t>• 25% CAGR</a:t>
            </a:r>
          </a:p>
          <a:p>
            <a:r>
              <a:rPr b="0" sz="900" u="sng">
                <a:solidFill>
                  <a:srgbClr val="0000FF"/>
                </a:solidFill>
              </a:rPr>
              <a:t>• Source: Market Research Future (MRFR)</a:t>
            </a:r>
          </a:p>
          <a:p>
            <a:r>
              <a:rPr b="0" sz="1100"/>
              <a:t>• $4.8 billion (40% of TAM)</a:t>
            </a:r>
          </a:p>
          <a:p>
            <a:r>
              <a:rPr b="0" sz="1100"/>
              <a:t>• Identity &amp; content verification segments</a:t>
            </a:r>
          </a:p>
          <a:p>
            <a:r>
              <a:rPr b="0" sz="900" u="sng">
                <a:solidFill>
                  <a:srgbClr val="0000FF"/>
                </a:solidFill>
              </a:rPr>
              <a:t>• Source: Grand View Research</a:t>
            </a:r>
          </a:p>
          <a:p>
            <a:r>
              <a:rPr b="0" sz="1100"/>
              <a:t>• Year 1: $24 million (0.5% of SAM)</a:t>
            </a:r>
          </a:p>
          <a:p>
            <a:r>
              <a:rPr b="0" sz="1100"/>
              <a:t>• Year 3: $240 million (5% of SAM)</a:t>
            </a:r>
          </a:p>
          <a:p>
            <a:r>
              <a:rPr b="0" sz="1100" u="sng">
                <a:solidFill>
                  <a:srgbClr val="0000FF"/>
                </a:solidFill>
              </a:rPr>
              <a:t>• Based on projected adoption rates for Web3 technologies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ctrTitle"/>
          </p:nvPr>
        </p:nvSpPr>
        <p:spPr>
          <a:xfrm>
            <a:off x="572450" y="581075"/>
            <a:ext cx="4472100" cy="52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Our Solution</a:t>
            </a:r>
          </a:p>
        </p:txBody>
      </p:sp>
      <p:sp>
        <p:nvSpPr>
          <p:cNvPr id="96" name="Google Shape;96;p19"/>
          <p:cNvSpPr txBox="1">
            <a:spLocks noGrp="1"/>
          </p:cNvSpPr>
          <p:nvPr>
            <p:ph type="subTitle" idx="1"/>
          </p:nvPr>
        </p:nvSpPr>
        <p:spPr>
          <a:xfrm>
            <a:off x="337525" y="1301850"/>
            <a:ext cx="8520600" cy="9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Universal Content-Addressable Storage</a:t>
            </a:r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96100"/>
            <a:ext cx="3410500" cy="3095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TextBox 97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/>
              <a:t>Our core technology uses content-addressable storage with superior efficiency and security.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-10000000" y="3200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b="1" i="1" sz="1100"/>
              <a:t>**Content identified by cryptographic hash, not location**</a:t>
            </a:r>
          </a:p>
          <a:p>
            <a:pPr lvl="1"/>
            <a:r>
              <a:rPr b="0" i="0" sz="1000"/>
              <a:t>Guarantees content authenticity and integrity</a:t>
            </a:r>
          </a:p>
          <a:p>
            <a:pPr lvl="1"/>
            <a:r>
              <a:rPr b="0" i="0" sz="900" u="sng">
                <a:solidFill>
                  <a:srgbClr val="0000FF"/>
                </a:solidFill>
              </a:rPr>
              <a:t>Source: Computer Science principles of CAS</a:t>
            </a:r>
          </a:p>
          <a:p>
            <a:pPr/>
            <a:r>
              <a:rPr b="1" i="1" sz="1100"/>
              <a:t>**Secure, conflict-free data synchronization across devices**</a:t>
            </a:r>
          </a:p>
          <a:p>
            <a:pPr lvl="1"/>
            <a:r>
              <a:rPr b="0" i="0" sz="1000"/>
              <a:t>Eliminates single points of failure</a:t>
            </a:r>
          </a:p>
          <a:p>
            <a:pPr lvl="1"/>
            <a:r>
              <a:rPr b="0" i="0" sz="900" u="sng">
                <a:solidFill>
                  <a:srgbClr val="0000FF"/>
                </a:solidFill>
              </a:rPr>
              <a:t>Source: IPFS Documentation</a:t>
            </a:r>
          </a:p>
          <a:p>
            <a:pPr/>
            <a:r>
              <a:rPr b="1" i="1" sz="1100"/>
              <a:t>**Significant reduction in storage space and network traffic**</a:t>
            </a:r>
          </a:p>
          <a:p>
            <a:pPr lvl="1"/>
            <a:r>
              <a:rPr b="0" i="0" sz="1000"/>
              <a:t>40-60% more efficient than traditional content-addressed storage</a:t>
            </a:r>
          </a:p>
          <a:p>
            <a:pPr lvl="1"/>
            <a:r>
              <a:rPr b="0" i="0" sz="900">
                <a:solidFill>
                  <a:srgbClr val="0000FF"/>
                </a:solidFill>
              </a:rPr>
              <a:t>[Source: Our proprietary benchmarks]()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-10000000" y="5486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100"/>
              <a:t>""Our unique implementation of CAS technology provides the foundation for rebuilding digital trust""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/>
              <a:t>Our core technology uses content-addressable storage with superior efficiency and security.</a:t>
            </a:r>
          </a:p>
          <a:p/>
          <a:p>
            <a:r>
              <a:rPr b="1" i="1" sz="1100"/>
              <a:t>• **Content identified by cryptographic hash, not location**</a:t>
            </a:r>
          </a:p>
          <a:p>
            <a:r>
              <a:rPr b="0" i="0" sz="1000"/>
              <a:t>   • Guarantees content authenticity and integrity</a:t>
            </a:r>
          </a:p>
          <a:p>
            <a:r>
              <a:rPr b="0" i="0" sz="900" u="sng">
                <a:solidFill>
                  <a:srgbClr val="0000FF"/>
                </a:solidFill>
              </a:rPr>
              <a:t>   • Source: Computer Science principles of CAS</a:t>
            </a:r>
          </a:p>
          <a:p>
            <a:r>
              <a:rPr b="1" i="1" sz="1100"/>
              <a:t>• **Secure, conflict-free data synchronization across devices**</a:t>
            </a:r>
          </a:p>
          <a:p>
            <a:r>
              <a:rPr b="0" i="0" sz="1000"/>
              <a:t>   • Eliminates single points of failure</a:t>
            </a:r>
          </a:p>
          <a:p>
            <a:r>
              <a:rPr b="0" i="0" sz="900" u="sng">
                <a:solidFill>
                  <a:srgbClr val="0000FF"/>
                </a:solidFill>
              </a:rPr>
              <a:t>   • Source: IPFS Documentation</a:t>
            </a:r>
          </a:p>
          <a:p>
            <a:r>
              <a:rPr b="1" i="1" sz="1100"/>
              <a:t>• **Significant reduction in storage space and network traffic**</a:t>
            </a:r>
          </a:p>
          <a:p>
            <a:r>
              <a:rPr b="0" i="0" sz="1000"/>
              <a:t>   • 40-60% more efficient than traditional content-addressed storage</a:t>
            </a:r>
          </a:p>
          <a:p>
            <a:r>
              <a:rPr b="0" i="0" sz="900">
                <a:solidFill>
                  <a:srgbClr val="0000FF"/>
                </a:solidFill>
              </a:rPr>
              <a:t>   • [Source: Our proprietary benchmarks]()</a:t>
            </a:r>
          </a:p>
          <a:p/>
          <a:p>
            <a:pPr algn="ctr"/>
            <a:r>
              <a:rPr i="1" sz="1100"/>
              <a:t>""Our unique implementation of CAS technology provides the foundation for rebuilding digital trust""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b="1" sz="1200"/>
              <a:t>Core Technology:</a:t>
            </a:r>
          </a:p>
          <a:p/>
          <a:p>
            <a:r>
              <a:rPr b="1" sz="1100"/>
              <a:t>• Content identified by cryptographic hash, not location</a:t>
            </a:r>
          </a:p>
          <a:p>
            <a:pPr lvl="1"/>
            <a:r>
              <a:rPr b="0" sz="1000"/>
              <a:t>   • Guarantees content authenticity and integrity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Computer Science principles of CAS</a:t>
            </a:r>
          </a:p>
          <a:p>
            <a:r>
              <a:rPr b="1" sz="1100"/>
              <a:t>• Secure, conflict-free data synchronization across devices</a:t>
            </a:r>
          </a:p>
          <a:p>
            <a:pPr lvl="1"/>
            <a:r>
              <a:rPr b="0" sz="1000"/>
              <a:t>   • Eliminates single points of failure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IPFS Documentation</a:t>
            </a:r>
          </a:p>
          <a:p>
            <a:r>
              <a:rPr b="1" sz="1100"/>
              <a:t>• Significant reduction in storage space and network traffic</a:t>
            </a:r>
          </a:p>
          <a:p>
            <a:pPr lvl="1"/>
            <a:r>
              <a:rPr b="0" sz="1000"/>
              <a:t>   • 40-60% more efficient than traditional content-addressed storage</a:t>
            </a:r>
          </a:p>
          <a:p>
            <a:pPr lvl="1"/>
            <a:r>
              <a:rPr b="0" sz="1000"/>
              <a:t>   • [Source: Our proprietary benchmarks]()</a:t>
            </a:r>
          </a:p>
          <a:p/>
          <a:p/>
          <a:p>
            <a:pPr algn="ctr"/>
            <a:r>
              <a:rPr i="1" sz="1100"/>
              <a:t>""Our unique implementation of CAS technology provides the foundation for rebuilding digital trust""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>
            <a:spLocks noGrp="1"/>
          </p:cNvSpPr>
          <p:nvPr>
            <p:ph type="ctrTitle"/>
          </p:nvPr>
        </p:nvSpPr>
        <p:spPr>
          <a:xfrm>
            <a:off x="572450" y="581075"/>
            <a:ext cx="4472100" cy="52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Business Model</a:t>
            </a:r>
          </a:p>
        </p:txBody>
      </p:sp>
      <p:sp>
        <p:nvSpPr>
          <p:cNvPr id="103" name="Google Shape;103;p20"/>
          <p:cNvSpPr txBox="1">
            <a:spLocks noGrp="1"/>
          </p:cNvSpPr>
          <p:nvPr>
            <p:ph type="subTitle" idx="1"/>
          </p:nvPr>
        </p:nvSpPr>
        <p:spPr>
          <a:xfrm>
            <a:off x="337525" y="1301850"/>
            <a:ext cx="8520600" cy="190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r>
              <a:t>Dual Revenue Streams</a:t>
            </a:r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777375"/>
            <a:ext cx="2768450" cy="2213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TextBox 104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/>
              <a:t>Dual revenue streams combining B2C freemium subscriptions and B2B technology licensing.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-10000000" y="3200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b="0" i="0" sz="1100"/>
              <a:t>Freemium subscription model</a:t>
            </a:r>
          </a:p>
          <a:p>
            <a:pPr/>
            <a:r>
              <a:rPr b="0" i="0" sz="1100"/>
              <a:t>Free tier: Core identity &amp; basic social features</a:t>
            </a:r>
          </a:p>
          <a:p>
            <a:pPr/>
            <a:r>
              <a:rPr b="0" i="0" sz="1100"/>
              <a:t>Premium tier: $7.99/month for advanced features</a:t>
            </a:r>
          </a:p>
          <a:p>
            <a:pPr lvl="1"/>
            <a:r>
              <a:rPr b="0" i="0" sz="1000"/>
              <a:t>Enhanced privacy controls</a:t>
            </a:r>
          </a:p>
          <a:p>
            <a:pPr lvl="1"/>
            <a:r>
              <a:rPr b="0" i="0" sz="1000"/>
              <a:t>Content discovery algorithms</a:t>
            </a:r>
          </a:p>
          <a:p>
            <a:pPr lvl="1"/>
            <a:r>
              <a:rPr b="0" i="0" sz="1000"/>
              <a:t>Extended storage</a:t>
            </a:r>
          </a:p>
          <a:p>
            <a:pPr/>
            <a:r>
              <a:rPr b="0" i="0" sz="900" u="sng">
                <a:solidFill>
                  <a:srgbClr val="0000FF"/>
                </a:solidFill>
              </a:rPr>
              <a:t>Source: Social platform pricing benchmarks</a:t>
            </a:r>
          </a:p>
          <a:p>
            <a:pPr/>
            <a:r>
              <a:rPr b="0" i="0" sz="1100"/>
              <a:t>Enterprise identity solutions: $10K-50K/month</a:t>
            </a:r>
          </a:p>
          <a:p>
            <a:pPr/>
            <a:r>
              <a:rPr b="0" i="0" sz="1100"/>
              <a:t>Decentralized storage infrastructure: $5K-30K/month</a:t>
            </a:r>
          </a:p>
          <a:p>
            <a:pPr/>
            <a:r>
              <a:rPr b="0" i="0" sz="1100"/>
              <a:t>Custom implementations: Project-based pricing</a:t>
            </a:r>
          </a:p>
          <a:p>
            <a:pPr/>
            <a:r>
              <a:rPr b="0" i="0" sz="900" u="sng">
                <a:solidFill>
                  <a:srgbClr val="0000FF"/>
                </a:solidFill>
              </a:rPr>
              <a:t>Source: Web3 B2B pricing models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-10000000" y="5486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100" u="sng">
                <a:solidFill>
                  <a:srgbClr val="0000FF"/>
                </a:solidFill>
              </a:rPr>
              <a:t>"Projected gross margins: 75-85% | [Industry benchmark source](https://medium.com/breadcrumb/saas-economics-gross-margin-part-1-919df3eb8e8e)"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/>
              <a:t>Dual revenue streams combining B2C freemium subscriptions and B2B technology licensing.</a:t>
            </a:r>
          </a:p>
          <a:p/>
          <a:p>
            <a:r>
              <a:rPr b="0" i="0" sz="1100"/>
              <a:t>• Freemium subscription model</a:t>
            </a:r>
          </a:p>
          <a:p>
            <a:r>
              <a:rPr b="0" i="0" sz="1100"/>
              <a:t>• Free tier: Core identity &amp; basic social features</a:t>
            </a:r>
          </a:p>
          <a:p>
            <a:r>
              <a:rPr b="0" i="0" sz="1100"/>
              <a:t>• Premium tier: $7.99/month for advanced features</a:t>
            </a:r>
          </a:p>
          <a:p>
            <a:r>
              <a:rPr b="0" i="0" sz="1000"/>
              <a:t>   • Enhanced privacy controls</a:t>
            </a:r>
          </a:p>
          <a:p>
            <a:r>
              <a:rPr b="0" i="0" sz="1000"/>
              <a:t>   • Content discovery algorithms</a:t>
            </a:r>
          </a:p>
          <a:p>
            <a:r>
              <a:rPr b="0" i="0" sz="1000"/>
              <a:t>   • Extended storage</a:t>
            </a:r>
          </a:p>
          <a:p>
            <a:r>
              <a:rPr b="0" i="0" sz="900" u="sng">
                <a:solidFill>
                  <a:srgbClr val="0000FF"/>
                </a:solidFill>
              </a:rPr>
              <a:t>• Source: Social platform pricing benchmarks</a:t>
            </a:r>
          </a:p>
          <a:p>
            <a:r>
              <a:rPr b="0" i="0" sz="1100"/>
              <a:t>• Enterprise identity solutions: $10K-50K/month</a:t>
            </a:r>
          </a:p>
          <a:p>
            <a:r>
              <a:rPr b="0" i="0" sz="1100"/>
              <a:t>• Decentralized storage infrastructure: $5K-30K/month</a:t>
            </a:r>
          </a:p>
          <a:p>
            <a:r>
              <a:rPr b="0" i="0" sz="1100"/>
              <a:t>• Custom implementations: Project-based pricing</a:t>
            </a:r>
          </a:p>
          <a:p>
            <a:r>
              <a:rPr b="0" i="0" sz="900" u="sng">
                <a:solidFill>
                  <a:srgbClr val="0000FF"/>
                </a:solidFill>
              </a:rPr>
              <a:t>• Source: Web3 B2B pricing models</a:t>
            </a:r>
          </a:p>
          <a:p/>
          <a:p>
            <a:pPr algn="ctr"/>
            <a:r>
              <a:rPr i="1" sz="1100" u="sng">
                <a:solidFill>
                  <a:srgbClr val="0000FF"/>
                </a:solidFill>
              </a:rPr>
              <a:t>"Projected gross margins: 75-85% | [Industry benchmark source](https://medium.com/breadcrumb/saas-economics-gross-margin-part-1-919df3eb8e8e)"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b="1" sz="1200"/>
              <a:t>Two-Pronged Approach:</a:t>
            </a:r>
          </a:p>
          <a:p/>
          <a:p>
            <a:r>
              <a:rPr b="0" sz="1100"/>
              <a:t>• Freemium subscription model</a:t>
            </a:r>
          </a:p>
          <a:p>
            <a:r>
              <a:rPr b="0" sz="1100"/>
              <a:t>• Free tier: Core identity &amp; basic social features</a:t>
            </a:r>
          </a:p>
          <a:p>
            <a:r>
              <a:rPr b="0" sz="1100"/>
              <a:t>• Premium tier: $7.99/month for advanced features</a:t>
            </a:r>
          </a:p>
          <a:p>
            <a:pPr lvl="1"/>
            <a:r>
              <a:rPr b="0" sz="1000"/>
              <a:t>   • Enhanced privacy controls</a:t>
            </a:r>
          </a:p>
          <a:p>
            <a:pPr lvl="1"/>
            <a:r>
              <a:rPr b="0" sz="1000"/>
              <a:t>   • Content discovery algorithms</a:t>
            </a:r>
          </a:p>
          <a:p>
            <a:pPr lvl="1"/>
            <a:r>
              <a:rPr b="0" sz="1000"/>
              <a:t>   • Extended storage</a:t>
            </a:r>
          </a:p>
          <a:p>
            <a:r>
              <a:rPr b="0" sz="900" u="sng">
                <a:solidFill>
                  <a:srgbClr val="0000FF"/>
                </a:solidFill>
              </a:rPr>
              <a:t>• Source: Social platform pricing benchmarks</a:t>
            </a:r>
          </a:p>
          <a:p>
            <a:r>
              <a:rPr b="0" sz="1100"/>
              <a:t>• Enterprise identity solutions: $10K-50K/month</a:t>
            </a:r>
          </a:p>
          <a:p>
            <a:r>
              <a:rPr b="0" sz="1100"/>
              <a:t>• Decentralized storage infrastructure: $5K-30K/month</a:t>
            </a:r>
          </a:p>
          <a:p>
            <a:r>
              <a:rPr b="0" sz="1100"/>
              <a:t>• Custom implementations: Project-based pricing</a:t>
            </a:r>
          </a:p>
          <a:p>
            <a:r>
              <a:rPr b="0" sz="900" u="sng">
                <a:solidFill>
                  <a:srgbClr val="0000FF"/>
                </a:solidFill>
              </a:rPr>
              <a:t>• Source: Web3 B2B pricing models</a:t>
            </a:r>
          </a:p>
          <a:p/>
          <a:p/>
          <a:p>
            <a:pPr algn="ctr"/>
            <a:r>
              <a:rPr i="1" sz="1100"/>
              <a:t>"Projected gross margins: 75-85% | [Industry benchmark source](https://medium.com/breadcrumb/saas-economics-gross-margin-part-1-919df3eb8e8e)"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>
            <a:spLocks noGrp="1"/>
          </p:cNvSpPr>
          <p:nvPr>
            <p:ph type="ctrTitle"/>
          </p:nvPr>
        </p:nvSpPr>
        <p:spPr>
          <a:xfrm>
            <a:off x="572450" y="581075"/>
            <a:ext cx="4472100" cy="52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DISOT</a:t>
            </a:r>
          </a:p>
        </p:txBody>
      </p:sp>
      <p:sp>
        <p:nvSpPr>
          <p:cNvPr id="110" name="Google Shape;110;p21"/>
          <p:cNvSpPr txBox="1">
            <a:spLocks noGrp="1"/>
          </p:cNvSpPr>
          <p:nvPr>
            <p:ph type="subTitle" idx="1"/>
          </p:nvPr>
        </p:nvSpPr>
        <p:spPr>
          <a:xfrm>
            <a:off x="337525" y="1301850"/>
            <a:ext cx="8520600" cy="190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Decentralized Immutable Source of Truth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 u="sng">
                <a:solidFill>
                  <a:srgbClr val="0000FF"/>
                </a:solidFill>
              </a:rPr>
              <a:t>DISOT enables mutable data with immutable history through digital signatures.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-10000000" y="5486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100" u="sng">
                <a:solidFill>
                  <a:srgbClr val="0000FF"/>
                </a:solidFill>
              </a:rPr>
              <a:t>""DISOT creates a foundation for trusted content that can be updated while maintaining verifiable history""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 u="sng">
                <a:solidFill>
                  <a:srgbClr val="0000FF"/>
                </a:solidFill>
              </a:rPr>
              <a:t>DISOT enables mutable data with immutable history through digital signatures.</a:t>
            </a:r>
          </a:p>
          <a:p/>
          <a:p/>
          <a:p>
            <a:pPr algn="ctr"/>
            <a:r>
              <a:rPr i="1" sz="1100" u="sng">
                <a:solidFill>
                  <a:srgbClr val="0000FF"/>
                </a:solidFill>
              </a:rPr>
              <a:t>""DISOT creates a foundation for trusted content that can be updated while maintaining verifiable history""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b="1" sz="1200"/>
              <a:t>Building on CAS:</a:t>
            </a:r>
          </a:p>
          <a:p/>
          <a:p>
            <a:r>
              <a:rPr b="1" sz="1100"/>
              <a:t>• Uses digital signatures to allow mutable data</a:t>
            </a:r>
          </a:p>
          <a:p>
            <a:pPr lvl="1"/>
            <a:r>
              <a:rPr b="0" sz="1000"/>
              <a:t>   • Combines content immutability with data evolution</a:t>
            </a:r>
          </a:p>
          <a:p>
            <a:pPr lvl="1"/>
            <a:r>
              <a:rPr b="0" sz="1000"/>
              <a:t>   • Identity linked to content through cryptographic proof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Digital Signatures in Distributed Systems</a:t>
            </a:r>
          </a:p>
          <a:p>
            <a:r>
              <a:rPr b="1" sz="1100"/>
              <a:t>• No third-party trust required</a:t>
            </a:r>
          </a:p>
          <a:p>
            <a:pPr lvl="1"/>
            <a:r>
              <a:rPr b="0" sz="1000"/>
              <a:t>   • Verification through mathematics, not authority</a:t>
            </a:r>
          </a:p>
          <a:p>
            <a:pPr lvl="1"/>
            <a:r>
              <a:rPr b="0" sz="1000"/>
              <a:t>   • 3x more efficient than blockchain alternatives</a:t>
            </a:r>
          </a:p>
          <a:p>
            <a:pPr lvl="1"/>
            <a:r>
              <a:rPr b="0" sz="1000"/>
              <a:t>   • [Source: Our benchmarks versus Ethereum and Filecoin]()</a:t>
            </a:r>
          </a:p>
          <a:p>
            <a:r>
              <a:rPr b="1" sz="1100"/>
              <a:t>• Patented implementation technology</a:t>
            </a:r>
          </a:p>
          <a:p>
            <a:pPr lvl="1"/>
            <a:r>
              <a:rPr b="0" sz="1000"/>
              <a:t>   • 8 provisional patents filed and pending</a:t>
            </a:r>
          </a:p>
          <a:p>
            <a:pPr lvl="1"/>
            <a:r>
              <a:rPr b="0" sz="1000"/>
              <a:t>   • [Source: US Patent &amp; Trademark Office]()</a:t>
            </a:r>
          </a:p>
          <a:p/>
          <a:p/>
          <a:p>
            <a:pPr algn="ctr"/>
            <a:r>
              <a:rPr i="1" sz="1100"/>
              <a:t>""DISOT creates a foundation for trusted content that can be updated while maintaining verifiable history""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>
            <a:spLocks noGrp="1"/>
          </p:cNvSpPr>
          <p:nvPr>
            <p:ph type="ctrTitle"/>
          </p:nvPr>
        </p:nvSpPr>
        <p:spPr>
          <a:xfrm>
            <a:off x="572450" y="581075"/>
            <a:ext cx="4472100" cy="52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Networks of Trust</a:t>
            </a:r>
          </a:p>
        </p:txBody>
      </p:sp>
      <p:sp>
        <p:nvSpPr>
          <p:cNvPr id="116" name="Google Shape;116;p22"/>
          <p:cNvSpPr txBox="1">
            <a:spLocks noGrp="1"/>
          </p:cNvSpPr>
          <p:nvPr>
            <p:ph type="subTitle" idx="1"/>
          </p:nvPr>
        </p:nvSpPr>
        <p:spPr>
          <a:xfrm>
            <a:off x="337525" y="1301850"/>
            <a:ext cx="8520600" cy="190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Social Connections Based on Trust</a:t>
            </a:r>
          </a:p>
        </p:txBody>
      </p:sp>
      <p:sp>
        <p:nvSpPr>
          <p:cNvPr id="117" name="Google Shape;117;p22"/>
          <p:cNvSpPr txBox="1"/>
          <p:nvPr/>
        </p:nvSpPr>
        <p:spPr>
          <a:xfrm>
            <a:off x="395250" y="1971450"/>
            <a:ext cx="26037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add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 sz="1050">
              <a:solidFill>
                <a:srgbClr val="00108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8" name="Google Shape;118;p22"/>
          <p:cNvSpPr txBox="1"/>
          <p:nvPr/>
        </p:nvSpPr>
        <p:spPr>
          <a:xfrm>
            <a:off x="-10000000" y="282545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0070C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strawberryJam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12_00</a:t>
            </a:r>
            <a:r>
              <a:rPr lang="ru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endParaRPr sz="10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0070C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honey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14_00</a:t>
            </a:r>
            <a:r>
              <a:rPr lang="ru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endParaRPr sz="10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strawberryJam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honey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119" name="Google Shape;119;p22"/>
          <p:cNvSpPr txBox="1"/>
          <p:nvPr/>
        </p:nvSpPr>
        <p:spPr>
          <a:xfrm>
            <a:off x="-10000000" y="296165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0070C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transaction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from: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"p256k1:dj920f091238f4911md91590s3908g0sqcqp892985829gh387sq"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to: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"p256k1:asjo3o248500wcuwo138902839fds3du90sskdp234960240jfoy"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amount: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1023_57</a:t>
            </a:r>
            <a:r>
              <a:rPr lang="ru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0070C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transaction</a:t>
            </a:r>
            <a:endParaRPr sz="1050">
              <a:solidFill>
                <a:srgbClr val="0070C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 u="sng">
                <a:solidFill>
                  <a:srgbClr val="0000FF"/>
                </a:solidFill>
              </a:rPr>
              <a:t>Networks of Trust mirror how humans naturally establish trust relationships in the real world.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-10000000" y="5486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100"/>
              <a:t>""Our trust networks mirror how humans naturally establish and maintain trust in the real world""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 u="sng">
                <a:solidFill>
                  <a:srgbClr val="0000FF"/>
                </a:solidFill>
              </a:rPr>
              <a:t>Networks of Trust mirror how humans naturally establish trust relationships in the real world.</a:t>
            </a:r>
          </a:p>
          <a:p/>
          <a:p/>
          <a:p>
            <a:pPr algn="ctr"/>
            <a:r>
              <a:rPr i="1" sz="1100"/>
              <a:t>""Our trust networks mirror how humans naturally establish and maintain trust in the real world""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b="1" sz="1200"/>
              <a:t>Subjective Trust:</a:t>
            </a:r>
          </a:p>
          <a:p/>
          <a:p>
            <a:r>
              <a:rPr b="1" sz="1100"/>
              <a:t>• Social connections based on real-world trust</a:t>
            </a:r>
          </a:p>
          <a:p>
            <a:pPr lvl="1"/>
            <a:r>
              <a:rPr b="0" sz="1000"/>
              <a:t>   • No centralized "trust score" or black-box algorithm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Social Network Trust Models</a:t>
            </a:r>
          </a:p>
          <a:p>
            <a:r>
              <a:rPr b="1" sz="1100"/>
              <a:t>• Trust delegation across networks</a:t>
            </a:r>
          </a:p>
          <a:p>
            <a:pPr lvl="1"/>
            <a:r>
              <a:rPr b="0" sz="1000"/>
              <a:t>   • Discover new content through weighted social connections</a:t>
            </a:r>
          </a:p>
          <a:p>
            <a:pPr lvl="1"/>
            <a:r>
              <a:rPr b="0" sz="1000"/>
              <a:t>   • Natural information filtering through trusted relationships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Trust Propagation Models</a:t>
            </a:r>
          </a:p>
          <a:p>
            <a:r>
              <a:rPr b="1" sz="1100"/>
              <a:t>• Progressive trust building</a:t>
            </a:r>
          </a:p>
          <a:p>
            <a:pPr lvl="1"/>
            <a:r>
              <a:rPr b="0" sz="1000"/>
              <a:t>   • Trust evolves through repeated positive interactions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Trust in Digital Environments</a:t>
            </a:r>
          </a:p>
          <a:p/>
          <a:p/>
          <a:p>
            <a:pPr algn="ctr"/>
            <a:r>
              <a:rPr i="1" sz="1100"/>
              <a:t>""Our trust networks mirror how humans naturally establish and maintain trust in the real world""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>
            <a:spLocks noGrp="1"/>
          </p:cNvSpPr>
          <p:nvPr>
            <p:ph type="ctrTitle"/>
          </p:nvPr>
        </p:nvSpPr>
        <p:spPr>
          <a:xfrm>
            <a:off x="572450" y="581075"/>
            <a:ext cx="4472100" cy="52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FunctionalScript</a:t>
            </a:r>
          </a:p>
        </p:txBody>
      </p:sp>
      <p:sp>
        <p:nvSpPr>
          <p:cNvPr id="125" name="Google Shape;125;p23"/>
          <p:cNvSpPr txBox="1">
            <a:spLocks noGrp="1"/>
          </p:cNvSpPr>
          <p:nvPr>
            <p:ph type="subTitle" idx="1"/>
          </p:nvPr>
        </p:nvSpPr>
        <p:spPr>
          <a:xfrm>
            <a:off x="337525" y="1301850"/>
            <a:ext cx="8520600" cy="190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Content-Addressable Programming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 u="sng">
                <a:solidFill>
                  <a:srgbClr val="0000FF"/>
                </a:solidFill>
              </a:rPr>
              <a:t>FunctionalScript provides a 40% performance improvement for content-addressable operations.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-10000000" y="5486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100" u="sng">
                <a:solidFill>
                  <a:srgbClr val="0000FF"/>
                </a:solidFill>
              </a:rPr>
              <a:t>""FunctionalScript makes building with content-addressable storage as easy as working with traditional databases""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 u="sng">
                <a:solidFill>
                  <a:srgbClr val="0000FF"/>
                </a:solidFill>
              </a:rPr>
              <a:t>FunctionalScript provides a 40% performance improvement for content-addressable operations.</a:t>
            </a:r>
          </a:p>
          <a:p/>
          <a:p/>
          <a:p>
            <a:pPr algn="ctr"/>
            <a:r>
              <a:rPr i="1" sz="1100" u="sng">
                <a:solidFill>
                  <a:srgbClr val="0000FF"/>
                </a:solidFill>
              </a:rPr>
              <a:t>""FunctionalScript makes building with content-addressable storage as easy as working with traditional databases""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b="1" sz="1200"/>
              <a:t>Key Technology:</a:t>
            </a:r>
          </a:p>
          <a:p/>
          <a:p>
            <a:r>
              <a:rPr b="1" sz="1100"/>
              <a:t>• Purpose-built language for immutable data operations</a:t>
            </a:r>
          </a:p>
          <a:p>
            <a:pPr lvl="1"/>
            <a:r>
              <a:rPr b="0" sz="1000"/>
              <a:t>   • Compatible with JavaScript for easy adoption</a:t>
            </a:r>
          </a:p>
          <a:p>
            <a:pPr lvl="1"/>
            <a:r>
              <a:rPr b="0" sz="1000"/>
              <a:t>   • 40% performance improvement over generic solutions</a:t>
            </a:r>
          </a:p>
          <a:p>
            <a:pPr lvl="1"/>
            <a:r>
              <a:rPr b="0" sz="1000"/>
              <a:t>   • [Source: Our benchmark tests versus JavaScript IPFS implementations]()</a:t>
            </a:r>
          </a:p>
          <a:p>
            <a:r>
              <a:rPr b="1" sz="1100"/>
              <a:t>• Highly scalable for decentralized applications</a:t>
            </a:r>
          </a:p>
          <a:p>
            <a:pPr lvl="1"/>
            <a:r>
              <a:rPr b="0" sz="1000"/>
              <a:t>   • Deterministic execution for consistent results</a:t>
            </a:r>
          </a:p>
          <a:p>
            <a:pPr lvl="1"/>
            <a:r>
              <a:rPr b="0" sz="1000"/>
              <a:t>   • Optimized for content-addressable operations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Programming Language Performance Comparisons</a:t>
            </a:r>
          </a:p>
          <a:p>
            <a:r>
              <a:rPr b="1" sz="1100"/>
              <a:t>• Proprietary innovation with patent protection</a:t>
            </a:r>
          </a:p>
          <a:p>
            <a:pPr lvl="1"/>
            <a:r>
              <a:rPr b="0" sz="1000"/>
              <a:t>   • Core IP with significant competitive barriers</a:t>
            </a:r>
          </a:p>
          <a:p>
            <a:pPr lvl="1"/>
            <a:r>
              <a:rPr b="0" sz="1000"/>
              <a:t>   • [Source: Our Patent Portfolio]()</a:t>
            </a:r>
          </a:p>
          <a:p/>
          <a:p/>
          <a:p>
            <a:pPr algn="ctr"/>
            <a:r>
              <a:rPr i="1" sz="1100"/>
              <a:t>""FunctionalScript makes building with content-addressable storage as easy as working with traditional databases""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t>Blockset</a:t>
            </a:r>
          </a:p>
        </p:txBody>
      </p:sp>
      <p:sp>
        <p:nvSpPr>
          <p:cNvPr id="131" name="Google Shape;131;p2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/>
          </a:bodyPr>
          <a:lstStyle/>
          <a:p>
            <a:r>
              <a:t>Core CAS Technology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 u="sng">
                <a:solidFill>
                  <a:srgbClr val="0000FF"/>
                </a:solidFill>
              </a:rPr>
              <a:t>Blockset democratizes industrial-grade content-addressable storage for everyday use.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-10000000" y="5486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100" u="sng">
                <a:solidFill>
                  <a:srgbClr val="0000FF"/>
                </a:solidFill>
              </a:rPr>
              <a:t>""Blockset makes industrial-grade content-addressable storage accessible and practical for everyday use""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 u="sng">
                <a:solidFill>
                  <a:srgbClr val="0000FF"/>
                </a:solidFill>
              </a:rPr>
              <a:t>Blockset democratizes industrial-grade content-addressable storage for everyday use.</a:t>
            </a:r>
          </a:p>
          <a:p/>
          <a:p/>
          <a:p>
            <a:pPr algn="ctr"/>
            <a:r>
              <a:rPr i="1" sz="1100" u="sng">
                <a:solidFill>
                  <a:srgbClr val="0000FF"/>
                </a:solidFill>
              </a:rPr>
              <a:t>""Blockset makes industrial-grade content-addressable storage accessible and practical for everyday use""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b="1" sz="1200"/>
              <a:t>Key Innovation:</a:t>
            </a:r>
          </a:p>
          <a:p/>
          <a:p>
            <a:r>
              <a:rPr b="1" sz="1100"/>
              <a:t>• Core content-addressable storage technology</a:t>
            </a:r>
          </a:p>
          <a:p>
            <a:pPr lvl="1"/>
            <a:r>
              <a:rPr b="0" sz="1000"/>
              <a:t>   • Developed by our CTO Sergey Shandar</a:t>
            </a:r>
          </a:p>
          <a:p>
            <a:pPr lvl="1"/>
            <a:r>
              <a:rPr b="0" sz="1000"/>
              <a:t>   • [Source: Our Technical Documentation]()</a:t>
            </a:r>
          </a:p>
          <a:p>
            <a:r>
              <a:rPr b="1" sz="1100"/>
              <a:t>• Democratizes CAS for individual users</a:t>
            </a:r>
          </a:p>
          <a:p>
            <a:pPr lvl="1"/>
            <a:r>
              <a:rPr b="0" sz="1000"/>
              <a:t>   • Previously only feasible for large infrastructure providers</a:t>
            </a:r>
          </a:p>
          <a:p>
            <a:pPr lvl="1"/>
            <a:r>
              <a:rPr b="0" sz="1000"/>
              <a:t>   • Now accessible for everyday applications</a:t>
            </a:r>
          </a:p>
          <a:p>
            <a:pPr lvl="1"/>
            <a:r>
              <a:rPr b="0" sz="1000"/>
              <a:t>   • [Source: Storage Efficiency Benchmarks]()</a:t>
            </a:r>
          </a:p>
          <a:p>
            <a:r>
              <a:rPr b="1" sz="1100"/>
              <a:t>• Significant technical advantages</a:t>
            </a:r>
          </a:p>
          <a:p>
            <a:pPr lvl="1"/>
            <a:r>
              <a:rPr b="0" sz="1000"/>
              <a:t>   • 60% storage savings versus traditional IPFS</a:t>
            </a:r>
          </a:p>
          <a:p>
            <a:pPr lvl="1"/>
            <a:r>
              <a:rPr b="0" sz="1000"/>
              <a:t>   • 40% bandwidth reduction over competitors</a:t>
            </a:r>
          </a:p>
          <a:p>
            <a:pPr lvl="1"/>
            <a:r>
              <a:rPr b="0" sz="1000"/>
              <a:t>   • [Source: Our Internal Testing]()</a:t>
            </a:r>
          </a:p>
          <a:p/>
          <a:p/>
          <a:p>
            <a:pPr algn="ctr"/>
            <a:r>
              <a:rPr i="1" sz="1100"/>
              <a:t>""Blockset makes industrial-grade content-addressable storage accessible and practical for everyday use""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>
            <a:spLocks noGrp="1"/>
          </p:cNvSpPr>
          <p:nvPr>
            <p:ph type="ctrTitle"/>
          </p:nvPr>
        </p:nvSpPr>
        <p:spPr>
          <a:xfrm>
            <a:off x="572450" y="581075"/>
            <a:ext cx="4472100" cy="52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Delfin</a:t>
            </a:r>
          </a:p>
        </p:txBody>
      </p:sp>
      <p:sp>
        <p:nvSpPr>
          <p:cNvPr id="137" name="Google Shape;137;p25"/>
          <p:cNvSpPr txBox="1">
            <a:spLocks noGrp="1"/>
          </p:cNvSpPr>
          <p:nvPr>
            <p:ph type="body" idx="4294967295"/>
          </p:nvPr>
        </p:nvSpPr>
        <p:spPr>
          <a:xfrm>
            <a:off x="1086450" y="1531250"/>
            <a:ext cx="1410000" cy="21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Decentralized Social Network</a:t>
            </a:r>
          </a:p>
        </p:txBody>
      </p:sp>
      <p:sp>
        <p:nvSpPr>
          <p:cNvPr id="138" name="Google Shape;138;p25"/>
          <p:cNvSpPr txBox="1">
            <a:spLocks noGrp="1"/>
          </p:cNvSpPr>
          <p:nvPr>
            <p:ph type="body" idx="4294967295"/>
          </p:nvPr>
        </p:nvSpPr>
        <p:spPr>
          <a:xfrm>
            <a:off x="2790900" y="1531250"/>
            <a:ext cx="1410000" cy="21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Alex</a:t>
            </a:r>
            <a:endParaRPr/>
          </a:p>
        </p:txBody>
      </p:sp>
      <p:sp>
        <p:nvSpPr>
          <p:cNvPr id="139" name="Google Shape;139;p25"/>
          <p:cNvSpPr txBox="1">
            <a:spLocks noGrp="1"/>
          </p:cNvSpPr>
          <p:nvPr>
            <p:ph type="body" idx="4294967295"/>
          </p:nvPr>
        </p:nvSpPr>
        <p:spPr>
          <a:xfrm>
            <a:off x="-10000000" y="1531250"/>
            <a:ext cx="0" cy="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Gela</a:t>
            </a:r>
            <a:endParaRPr/>
          </a:p>
        </p:txBody>
      </p:sp>
      <p:sp>
        <p:nvSpPr>
          <p:cNvPr id="140" name="Google Shape;140;p25"/>
          <p:cNvSpPr txBox="1">
            <a:spLocks noGrp="1"/>
          </p:cNvSpPr>
          <p:nvPr>
            <p:ph type="body" idx="4294967295"/>
          </p:nvPr>
        </p:nvSpPr>
        <p:spPr>
          <a:xfrm>
            <a:off x="-10000000" y="1531250"/>
            <a:ext cx="0" cy="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Rodion</a:t>
            </a:r>
            <a:endParaRPr/>
          </a:p>
        </p:txBody>
      </p:sp>
      <p:pic>
        <p:nvPicPr>
          <p:cNvPr id="141" name="Google Shape;14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00000" y="2022975"/>
            <a:ext cx="0" cy="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0000000" y="1997150"/>
            <a:ext cx="0" cy="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10000000" y="2022975"/>
            <a:ext cx="0" cy="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10000000" y="2022975"/>
            <a:ext cx="0" cy="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TextBox 144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 u="sng">
                <a:solidFill>
                  <a:srgbClr val="0000FF"/>
                </a:solidFill>
              </a:rPr>
              <a:t>Delfin delivers a decentralized social network with user-owned identity and content.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-10000000" y="5486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100" u="sng">
                <a:solidFill>
                  <a:srgbClr val="0000FF"/>
                </a:solidFill>
              </a:rPr>
              <a:t>""Delfin is our flagship consumer application demonstrating the power of NoLock's technology stack""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 u="sng">
                <a:solidFill>
                  <a:srgbClr val="0000FF"/>
                </a:solidFill>
              </a:rPr>
              <a:t>Delfin delivers a decentralized social network with user-owned identity and content.</a:t>
            </a:r>
          </a:p>
          <a:p/>
          <a:p/>
          <a:p>
            <a:pPr algn="ctr"/>
            <a:r>
              <a:rPr i="1" sz="1100" u="sng">
                <a:solidFill>
                  <a:srgbClr val="0000FF"/>
                </a:solidFill>
              </a:rPr>
              <a:t>""Delfin is our flagship consumer application demonstrating the power of NoLock's technology stack""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b="1" sz="1200"/>
              <a:t>Consumer Application:</a:t>
            </a:r>
          </a:p>
          <a:p/>
          <a:p>
            <a:r>
              <a:rPr b="1" sz="1100"/>
              <a:t>• Decentralized social network based on trust models</a:t>
            </a:r>
          </a:p>
          <a:p>
            <a:pPr lvl="1"/>
            <a:r>
              <a:rPr b="0" sz="1000"/>
              <a:t>   • User-controlled content sharing and discovery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Decentralized Social Media Report</a:t>
            </a:r>
          </a:p>
          <a:p>
            <a:r>
              <a:rPr b="1" sz="1100"/>
              <a:t>• User-owned identity and content</a:t>
            </a:r>
          </a:p>
          <a:p>
            <a:pPr lvl="1"/>
            <a:r>
              <a:rPr b="0" sz="1000"/>
              <a:t>   • Self-sovereign digital identity</a:t>
            </a:r>
          </a:p>
          <a:p>
            <a:pPr lvl="1"/>
            <a:r>
              <a:rPr b="0" sz="1000"/>
              <a:t>   • True content ownership with verifiable provenance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Self-Sovereign Identity Models</a:t>
            </a:r>
          </a:p>
          <a:p>
            <a:r>
              <a:rPr b="1" sz="1100"/>
              <a:t>• Freemium model with advanced features</a:t>
            </a:r>
          </a:p>
          <a:p>
            <a:pPr lvl="1"/>
            <a:r>
              <a:rPr b="0" sz="1000"/>
              <a:t>   • Free tier for basic functionality</a:t>
            </a:r>
          </a:p>
          <a:p>
            <a:pPr lvl="1"/>
            <a:r>
              <a:rPr b="0" sz="1000"/>
              <a:t>   • $7.99/month premium tier for enhanced capabilities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Social Media Revenue Models</a:t>
            </a:r>
          </a:p>
          <a:p/>
          <a:p/>
          <a:p>
            <a:pPr algn="ctr"/>
            <a:r>
              <a:rPr i="1" sz="1100"/>
              <a:t>""Delfin is our flagship consumer application demonstrating the power of NoLock's technology stack""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>
            <a:spLocks noGrp="1"/>
          </p:cNvSpPr>
          <p:nvPr>
            <p:ph type="ctrTitle"/>
          </p:nvPr>
        </p:nvSpPr>
        <p:spPr>
          <a:xfrm>
            <a:off x="572450" y="581075"/>
            <a:ext cx="4472100" cy="52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Benefits</a:t>
            </a:r>
          </a:p>
        </p:txBody>
      </p:sp>
      <p:sp>
        <p:nvSpPr>
          <p:cNvPr id="150" name="Google Shape;150;p26"/>
          <p:cNvSpPr txBox="1">
            <a:spLocks noGrp="1"/>
          </p:cNvSpPr>
          <p:nvPr>
            <p:ph type="subTitle" idx="1"/>
          </p:nvPr>
        </p:nvSpPr>
        <p:spPr>
          <a:xfrm>
            <a:off x="337525" y="1301850"/>
            <a:ext cx="8520600" cy="190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Core Advantages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/>
              <a:t>Our platform offers future-proof technology, offline functionality, and verifiable content.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/>
              <a:t>Our platform offers future-proof technology, offline functionality, and verifiable content.</a:t>
            </a:r>
          </a:p>
          <a:p/>
        </p:txBody>
      </p:sp>
      <p:sp>
        <p:nvSpPr>
          <p:cNvPr id="153" name="TextBox 152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b="1" sz="1200"/>
              <a:t>Platform Benefits:</a:t>
            </a:r>
          </a:p>
          <a:p/>
          <a:p>
            <a:r>
              <a:rPr b="1" sz="1100"/>
              <a:t>• Future-Proof Technology</a:t>
            </a:r>
          </a:p>
          <a:p>
            <a:pPr lvl="1"/>
            <a:r>
              <a:rPr b="0" sz="1000"/>
              <a:t>   • Easy protocol and cryptography upgrades without data loss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Protocol Evolution in Distributed Systems</a:t>
            </a:r>
          </a:p>
          <a:p>
            <a:r>
              <a:rPr b="1" sz="1100"/>
              <a:t>• Offline Functionality</a:t>
            </a:r>
          </a:p>
          <a:p>
            <a:pPr lvl="1"/>
            <a:r>
              <a:rPr b="0" sz="1000"/>
              <a:t>   • Works reliably without constant internet connectivity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Offline-First Web Applications</a:t>
            </a:r>
          </a:p>
          <a:p>
            <a:r>
              <a:rPr b="1" sz="1100"/>
              <a:t>• Verifiable Content</a:t>
            </a:r>
          </a:p>
          <a:p>
            <a:pPr lvl="1"/>
            <a:r>
              <a:rPr b="0" sz="1000"/>
              <a:t>   • Ensures data authenticity and integrity through cryptographic proof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Content Verification Methods</a:t>
            </a:r>
          </a:p>
          <a:p>
            <a:r>
              <a:rPr b="1" sz="1100"/>
              <a:t>• Personalized Trust</a:t>
            </a:r>
          </a:p>
          <a:p>
            <a:pPr lvl="1"/>
            <a:r>
              <a:rPr b="0" sz="1000"/>
              <a:t>   • User-defined trust ratings based on individual networks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Personalized Recommendation Systems</a:t>
            </a:r>
          </a:p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t>AI Foundation</a:t>
            </a:r>
          </a:p>
        </p:txBody>
      </p:sp>
      <p:sp>
        <p:nvSpPr>
          <p:cNvPr id="156" name="Google Shape;156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Enabled by Content Addressing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/>
              <a:t>Content-addressable AI ensures provenance and transparency for training data and models.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-10000000" y="5486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100"/>
              <a:t>""Our infrastructure provides a foundation for truly trustworthy AI that users can verify, not just trust""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/>
              <a:t>Content-addressable AI ensures provenance and transparency for training data and models.</a:t>
            </a:r>
          </a:p>
          <a:p/>
          <a:p/>
          <a:p>
            <a:pPr algn="ctr"/>
            <a:r>
              <a:rPr i="1" sz="1100"/>
              <a:t>""Our infrastructure provides a foundation for truly trustworthy AI that users can verify, not just trust""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b="1" sz="1200"/>
              <a:t>AI Integration:</a:t>
            </a:r>
          </a:p>
          <a:p/>
          <a:p>
            <a:r>
              <a:rPr b="1" sz="1100"/>
              <a:t>• Content-addressable AI training data</a:t>
            </a:r>
          </a:p>
          <a:p>
            <a:pPr lvl="1"/>
            <a:r>
              <a:rPr b="0" sz="1000"/>
              <a:t>   • Ensures provenance and reproducibility of models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AI Data Provenance</a:t>
            </a:r>
          </a:p>
          <a:p>
            <a:r>
              <a:rPr b="1" sz="1100"/>
              <a:t>• Verifiable AI models</a:t>
            </a:r>
          </a:p>
          <a:p>
            <a:pPr lvl="1"/>
            <a:r>
              <a:rPr b="0" sz="1000"/>
              <a:t>   • Hash-based validation of model versions</a:t>
            </a:r>
          </a:p>
          <a:p>
            <a:pPr lvl="1"/>
            <a:r>
              <a:rPr b="0" sz="1000"/>
              <a:t>   • Transparent training lineage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Model Transparency Guidelines</a:t>
            </a:r>
          </a:p>
          <a:p>
            <a:r>
              <a:rPr b="1" sz="1100"/>
              <a:t>• Trust-based AI recommendations</a:t>
            </a:r>
          </a:p>
          <a:p>
            <a:pPr lvl="1"/>
            <a:r>
              <a:rPr b="0" sz="1000"/>
              <a:t>   • Recommendations filtered through personal trust networks</a:t>
            </a:r>
          </a:p>
          <a:p>
            <a:pPr lvl="1"/>
            <a:r>
              <a:rPr b="0" sz="1000"/>
              <a:t>   • No black-box algorithmic manipulation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Trust in AI Systems</a:t>
            </a:r>
          </a:p>
          <a:p/>
          <a:p/>
          <a:p>
            <a:pPr algn="ctr"/>
            <a:r>
              <a:rPr i="1" sz="1100"/>
              <a:t>""Our infrastructure provides a foundation for truly trustworthy AI that users can verify, not just trust""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Product Overview</a:t>
            </a:r>
          </a:p>
        </p:txBody>
      </p:sp>
      <p:sp>
        <p:nvSpPr>
          <p:cNvPr id="162" name="Google Shape;162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Platform &amp; Applications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/>
              <a:t>Our dual product strategy creates a complete ecosystem from infrastructure to user experience.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-10000000" y="5486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100"/>
              <a:t>""Our products form a complete ecosystem for rebuilding digital trust from infrastructure to user experience.""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/>
              <a:t>Our dual product strategy creates a complete ecosystem from infrastructure to user experience.</a:t>
            </a:r>
          </a:p>
          <a:p/>
          <a:p/>
          <a:p>
            <a:pPr algn="ctr"/>
            <a:r>
              <a:rPr i="1" sz="1100"/>
              <a:t>""Our products form a complete ecosystem for rebuilding digital trust from infrastructure to user experience.""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b="1" sz="1200"/>
              <a:t>Dual Product Strategy:</a:t>
            </a:r>
          </a:p>
          <a:p/>
          <a:p>
            <a:r>
              <a:rPr b="0" sz="1100"/>
              <a:t>• Social networking with trust-based content filtering</a:t>
            </a:r>
          </a:p>
          <a:p>
            <a:r>
              <a:rPr b="0" sz="1100"/>
              <a:t>• Self-sovereign digital identity management</a:t>
            </a:r>
          </a:p>
          <a:p>
            <a:r>
              <a:rPr b="0" sz="1100"/>
              <a:t>• Immutable content publishing &amp; verification</a:t>
            </a:r>
          </a:p>
          <a:p>
            <a:r>
              <a:rPr b="0" sz="1100"/>
              <a:t>• [Source: Our Product Roadmap]()</a:t>
            </a:r>
          </a:p>
          <a:p>
            <a:r>
              <a:rPr b="0" sz="1100"/>
              <a:t>• Content-addressable storage infrastructure (CAS)</a:t>
            </a:r>
          </a:p>
          <a:p>
            <a:r>
              <a:rPr b="0" sz="1100"/>
              <a:t>• Decentralized identity protocols</a:t>
            </a:r>
          </a:p>
          <a:p>
            <a:r>
              <a:rPr b="0" sz="1100"/>
              <a:t>• Trust network API &amp; developer tools</a:t>
            </a:r>
          </a:p>
          <a:p>
            <a:r>
              <a:rPr b="0" sz="1100"/>
              <a:t>• [Source: Our Technical Documentation]()</a:t>
            </a:r>
          </a:p>
          <a:p/>
          <a:p/>
          <a:p>
            <a:pPr algn="ctr"/>
            <a:r>
              <a:rPr i="1" sz="1100"/>
              <a:t>""Our products form a complete ecosystem for rebuilding digital trust from infrastructure to user experience.""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Technology Advantage</a:t>
            </a:r>
          </a:p>
        </p:txBody>
      </p:sp>
      <p:sp>
        <p:nvSpPr>
          <p:cNvPr id="168" name="Google Shape;168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Our Key Differentiators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/>
              <a:t>Our key differentiators include proprietary technology with patent protection.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-10000000" y="5486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100"/>
              <a:t>"8 provisional patents filed covering core technologies"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/>
              <a:t>Our key differentiators include proprietary technology with patent protection.</a:t>
            </a:r>
          </a:p>
          <a:p/>
          <a:p/>
          <a:p>
            <a:pPr algn="ctr"/>
            <a:r>
              <a:rPr i="1" sz="1100"/>
              <a:t>"8 provisional patents filed covering core technologies"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b="1" sz="1200"/>
              <a:t>Proprietary Technology Stack:</a:t>
            </a:r>
          </a:p>
          <a:p/>
          <a:p>
            <a:r>
              <a:rPr b="0" sz="1100"/>
              <a:t>• Guarantees content authenticity and integrity</a:t>
            </a:r>
          </a:p>
          <a:p>
            <a:r>
              <a:rPr b="0" sz="1100"/>
              <a:t>• 3x more efficient than blockchain alternatives</a:t>
            </a:r>
          </a:p>
          <a:p>
            <a:r>
              <a:rPr b="0" sz="1100"/>
              <a:t>• [Source: Our Benchmark Testing]()</a:t>
            </a:r>
          </a:p>
          <a:p>
            <a:r>
              <a:rPr b="0" sz="1100"/>
              <a:t>• Proprietary algorithm for weighted trust networks</a:t>
            </a:r>
          </a:p>
          <a:p>
            <a:r>
              <a:rPr b="0" sz="1100"/>
              <a:t>• Enables personalized content filtering without black-box algorithms</a:t>
            </a:r>
          </a:p>
          <a:p>
            <a:r>
              <a:rPr b="0" sz="1100"/>
              <a:t>• [Source: Our Research Publications]()</a:t>
            </a:r>
          </a:p>
          <a:p>
            <a:r>
              <a:rPr b="0" sz="1100"/>
              <a:t>• Purpose-built for immutable data operations</a:t>
            </a:r>
          </a:p>
          <a:p>
            <a:r>
              <a:rPr b="0" sz="1100"/>
              <a:t>• 40% performance improvement over generic solutions</a:t>
            </a:r>
          </a:p>
          <a:p>
            <a:r>
              <a:rPr b="0" sz="1100"/>
              <a:t>• [Source: Language Performance Benchmarks]()</a:t>
            </a:r>
          </a:p>
          <a:p/>
          <a:p/>
          <a:p>
            <a:pPr algn="ctr"/>
            <a:r>
              <a:rPr i="1" sz="1100"/>
              <a:t>"8 provisional patents filed covering core technologies"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t>Competitive Landscape</a:t>
            </a:r>
          </a:p>
        </p:txBody>
      </p:sp>
      <p:sp>
        <p:nvSpPr>
          <p:cNvPr id="174" name="Google Shape;174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Positioning in the Market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/>
              <a:t>We combine the best elements of centralized usability and decentralized security.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-10000000" y="5486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100"/>
              <a:t>"NoLock Social combines the usability of centralized platforms with the security of decentralized systems."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/>
              <a:t>We combine the best elements of centralized usability and decentralized security.</a:t>
            </a:r>
          </a:p>
          <a:p/>
          <a:p/>
          <a:p>
            <a:pPr algn="ctr"/>
            <a:r>
              <a:rPr i="1" sz="1100"/>
              <a:t>"NoLock Social combines the usability of centralized platforms with the security of decentralized systems."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b="1" sz="1200"/>
              <a:t>Market Positioning:</a:t>
            </a:r>
          </a:p>
          <a:p/>
          <a:p>
            <a:r>
              <a:t>• </a:t>
            </a:r>
            <a:r>
              <a:rPr u="sng">
                <a:solidFill>
                  <a:srgbClr val="0000FF"/>
                </a:solidFill>
              </a:rPr>
              <a:t>Twitter/X</a:t>
            </a:r>
            <a:r>
              <a:t>, </a:t>
            </a:r>
            <a:r>
              <a:rPr u="sng">
                <a:solidFill>
                  <a:srgbClr val="0000FF"/>
                </a:solidFill>
              </a:rPr>
              <a:t>Facebook</a:t>
            </a:r>
            <a:r>
              <a:t>: Rely on central authorities and closed algorithms</a:t>
            </a:r>
          </a:p>
          <a:p>
            <a:r>
              <a:t>• </a:t>
            </a:r>
            <a:r>
              <a:rPr u="sng">
                <a:solidFill>
                  <a:srgbClr val="0000FF"/>
                </a:solidFill>
              </a:rPr>
              <a:t>Signal</a:t>
            </a:r>
            <a:r>
              <a:t>, </a:t>
            </a:r>
            <a:r>
              <a:rPr u="sng">
                <a:solidFill>
                  <a:srgbClr val="0000FF"/>
                </a:solidFill>
              </a:rPr>
              <a:t>Telegram</a:t>
            </a:r>
            <a:r>
              <a:t>: Better privacy, but limited functionality</a:t>
            </a:r>
          </a:p>
          <a:p>
            <a:r>
              <a:rPr b="1" sz="1100"/>
              <a:t>• Our advantage: User-controlled identity + network effects</a:t>
            </a:r>
          </a:p>
          <a:p>
            <a:r>
              <a:rPr b="0" sz="900" u="sng">
                <a:solidFill>
                  <a:srgbClr val="0000FF"/>
                </a:solidFill>
              </a:rPr>
              <a:t>• Source: Compare centralized platforms</a:t>
            </a:r>
          </a:p>
          <a:p>
            <a:r>
              <a:t>• </a:t>
            </a:r>
            <a:r>
              <a:rPr u="sng">
                <a:solidFill>
                  <a:srgbClr val="0000FF"/>
                </a:solidFill>
              </a:rPr>
              <a:t>Mastodon</a:t>
            </a:r>
            <a:r>
              <a:t>, </a:t>
            </a:r>
            <a:r>
              <a:rPr u="sng">
                <a:solidFill>
                  <a:srgbClr val="0000FF"/>
                </a:solidFill>
              </a:rPr>
              <a:t>Bluesky</a:t>
            </a:r>
            <a:r>
              <a:t>: Federation, not true decentralization</a:t>
            </a:r>
          </a:p>
          <a:p>
            <a:r>
              <a:t>• </a:t>
            </a:r>
            <a:r>
              <a:rPr u="sng">
                <a:solidFill>
                  <a:srgbClr val="0000FF"/>
                </a:solidFill>
              </a:rPr>
              <a:t>IPFS</a:t>
            </a:r>
            <a:r>
              <a:t>, </a:t>
            </a:r>
            <a:r>
              <a:rPr u="sng">
                <a:solidFill>
                  <a:srgbClr val="0000FF"/>
                </a:solidFill>
              </a:rPr>
              <a:t>Filecoin</a:t>
            </a:r>
            <a:r>
              <a:t>: Storage focused, not social layer</a:t>
            </a:r>
          </a:p>
          <a:p>
            <a:r>
              <a:rPr b="1" sz="1100"/>
              <a:t>• Our advantage: Complete stack with seamless UX + trust networks</a:t>
            </a:r>
          </a:p>
          <a:p>
            <a:r>
              <a:rPr b="0" sz="900" u="sng">
                <a:solidFill>
                  <a:srgbClr val="0000FF"/>
                </a:solidFill>
              </a:rPr>
              <a:t>• Source: Web3 social networks</a:t>
            </a:r>
          </a:p>
          <a:p/>
          <a:p/>
          <a:p>
            <a:pPr algn="ctr"/>
            <a:r>
              <a:rPr i="1" sz="1100"/>
              <a:t>"NoLock Social combines the usability of centralized platforms with the security of decentralized systems."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Go-to-Market Strategy</a:t>
            </a:r>
          </a:p>
        </p:txBody>
      </p:sp>
      <p:sp>
        <p:nvSpPr>
          <p:cNvPr id="180" name="Google Shape;180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Adoption &amp; Growth Plan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/>
              <a:t>Three-phase GTM strategy from developer adoption to mainstream users with clear metrics.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-10000000" y="5486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100" u="sng">
                <a:solidFill>
                  <a:srgbClr val="0000FF"/>
                </a:solidFill>
              </a:rPr>
              <a:t>"Customer acquisition cost target: $3.50 per user | [Benchmark source](https://www.profitwell.com/recur/all/customer-acquisition-cost)"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/>
              <a:t>Three-phase GTM strategy from developer adoption to mainstream users with clear metrics.</a:t>
            </a:r>
          </a:p>
          <a:p/>
          <a:p/>
          <a:p>
            <a:pPr algn="ctr"/>
            <a:r>
              <a:rPr i="1" sz="1100" u="sng">
                <a:solidFill>
                  <a:srgbClr val="0000FF"/>
                </a:solidFill>
              </a:rPr>
              <a:t>"Customer acquisition cost target: $3.50 per user | [Benchmark source](https://www.profitwell.com/recur/all/customer-acquisition-cost)"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b="1" sz="1200"/>
              <a:t>Multi-Phase Approach:</a:t>
            </a:r>
          </a:p>
          <a:p/>
          <a:p>
            <a:r>
              <a:rPr b="0" sz="1100"/>
              <a:t>• Open core technology to developers</a:t>
            </a:r>
          </a:p>
          <a:p>
            <a:r>
              <a:rPr b="0" sz="1100"/>
              <a:t>• Build 10 reference implementations</a:t>
            </a:r>
          </a:p>
          <a:p>
            <a:r>
              <a:rPr b="0" sz="1100"/>
              <a:t>• Target: 5,000 developers</a:t>
            </a:r>
          </a:p>
          <a:p>
            <a:r>
              <a:rPr b="0" sz="1100"/>
              <a:t>• Strategy: Developer-first adoption</a:t>
            </a:r>
          </a:p>
          <a:p>
            <a:r>
              <a:rPr b="0" sz="1100"/>
              <a:t>• Focus on privacy-conscious users</a:t>
            </a:r>
          </a:p>
          <a:p>
            <a:r>
              <a:rPr b="0" sz="1100"/>
              <a:t>• Partner with 3-5 influencers in target communities</a:t>
            </a:r>
          </a:p>
          <a:p>
            <a:r>
              <a:rPr b="0" sz="1100"/>
              <a:t>• Target: 100,000 active users</a:t>
            </a:r>
          </a:p>
          <a:p>
            <a:r>
              <a:rPr b="0" sz="1100"/>
              <a:t>• Market: Privacy-focused segment size</a:t>
            </a:r>
          </a:p>
          <a:p>
            <a:r>
              <a:rPr b="0" sz="1100"/>
              <a:t>• Release enterprise partnerships</a:t>
            </a:r>
          </a:p>
          <a:p>
            <a:r>
              <a:rPr b="0" sz="1100"/>
              <a:t>• Launch simplified onboarding for non-technical users</a:t>
            </a:r>
          </a:p>
          <a:p>
            <a:r>
              <a:rPr b="0" sz="1100"/>
              <a:t>• Target: 1M+ active users</a:t>
            </a:r>
          </a:p>
          <a:p>
            <a:r>
              <a:rPr b="0" sz="1100" u="sng">
                <a:solidFill>
                  <a:srgbClr val="0000FF"/>
                </a:solidFill>
              </a:rPr>
              <a:t>• Reference: Web3 adoption curves</a:t>
            </a:r>
          </a:p>
          <a:p/>
          <a:p/>
          <a:p>
            <a:pPr algn="ctr"/>
            <a:r>
              <a:rPr i="1" sz="1100"/>
              <a:t>"Customer acquisition cost target: $3.50 per user | [Benchmark source](https://www.profitwell.com/recur/all/customer-acquisition-cost)"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t>Traction &amp; Milestones</a:t>
            </a:r>
          </a:p>
        </p:txBody>
      </p:sp>
      <p:sp>
        <p:nvSpPr>
          <p:cNvPr id="186" name="Google Shape;186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Progress &amp; Roadmap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/>
              <a:t>Demonstrated progress with early partnerships, developer traction, and clear roadmap.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/>
              <a:t>Demonstrated progress with early partnerships, developer traction, and clear roadmap.</a:t>
            </a:r>
          </a:p>
          <a:p/>
        </p:txBody>
      </p:sp>
      <p:sp>
        <p:nvSpPr>
          <p:cNvPr id="189" name="TextBox 188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b="1" sz="1200"/>
              <a:t>Progress To Date:</a:t>
            </a:r>
          </a:p>
          <a:p/>
          <a:p>
            <a:r>
              <a:rPr b="0" sz="1100"/>
              <a:t>• Core infrastructure built and tested</a:t>
            </a:r>
          </a:p>
          <a:p>
            <a:r>
              <a:rPr b="0" sz="1100"/>
              <a:t>• Alpha version of Delfin application</a:t>
            </a:r>
          </a:p>
          <a:p>
            <a:r>
              <a:rPr b="0" sz="1100"/>
              <a:t>• [Source: Our GitHub Repository]()</a:t>
            </a:r>
          </a:p>
          <a:p>
            <a:r>
              <a:rPr b="0" sz="1100"/>
              <a:t>• Integration with personal finance company for identity verification</a:t>
            </a:r>
          </a:p>
          <a:p>
            <a:r>
              <a:rPr b="0" sz="1100"/>
              <a:t>• Two developer teams building on our API</a:t>
            </a:r>
          </a:p>
          <a:p>
            <a:r>
              <a:rPr b="0" sz="1100"/>
              <a:t>• [Source: Our Partnership Announcements]()</a:t>
            </a:r>
          </a:p>
          <a:p>
            <a:r>
              <a:rPr b="0" sz="1100"/>
              <a:t>• 2,500+ developers in early access program</a:t>
            </a:r>
          </a:p>
          <a:p>
            <a:r>
              <a:rPr b="0" sz="1100"/>
              <a:t>• 15,000+ waitlist signups</a:t>
            </a:r>
          </a:p>
          <a:p>
            <a:r>
              <a:rPr b="0" sz="1100"/>
              <a:t>• [Source: Our Internal Metrics]()</a:t>
            </a:r>
          </a:p>
          <a:p/>
          <a:p>
            <a:pPr algn="l">
              <a:spcBef>
                <a:spcPts val="1200"/>
              </a:spcBef>
            </a:pPr>
            <a:r>
              <a:rPr b="1" sz="1200"/>
              <a:t>Next 12 Months:</a:t>
            </a:r>
          </a:p>
          <a:p/>
          <a:p>
            <a:r>
              <a:rPr b="0" sz="1100"/>
              <a:t>• Public beta launch (Q3 2023)</a:t>
            </a:r>
          </a:p>
          <a:p>
            <a:r>
              <a:rPr b="0" sz="1100"/>
              <a:t>• Enterprise partner program (Q4 2023)</a:t>
            </a:r>
          </a:p>
          <a:p>
            <a:r>
              <a:rPr b="0" sz="1100"/>
              <a:t>• Full production launch (Q2 2024)</a:t>
            </a:r>
          </a:p>
          <a:p>
            <a:r>
              <a:rPr b="0" sz="1100"/>
              <a:t>• [Source: Our Product Roadmap]()</a:t>
            </a:r>
          </a:p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t>Investment Ask</a:t>
            </a:r>
          </a:p>
        </p:txBody>
      </p:sp>
      <p:sp>
        <p:nvSpPr>
          <p:cNvPr id="192" name="Google Shape;192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Funding Request &amp; Use of Funds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/>
              <a:t>Seeking $2.5M pre-seed funding to reach key milestones toward Series A readiness.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-10000000" y="3200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b="0" i="0" sz="1100"/>
              <a:t>Engineering team expansion (45%)</a:t>
            </a:r>
          </a:p>
          <a:p>
            <a:pPr/>
            <a:r>
              <a:rPr b="0" i="0" sz="1100"/>
              <a:t>Product development (30%)</a:t>
            </a:r>
          </a:p>
          <a:p>
            <a:pPr/>
            <a:r>
              <a:rPr b="0" i="0" sz="1100"/>
              <a:t>Marketing &amp; user acquisition (15%)</a:t>
            </a:r>
          </a:p>
          <a:p>
            <a:pPr/>
            <a:r>
              <a:rPr b="0" i="0" sz="1100"/>
              <a:t>Operations &amp; legal (10%)</a:t>
            </a:r>
          </a:p>
          <a:p>
            <a:pPr/>
            <a:r>
              <a:rPr b="0" i="0" sz="1100" u="sng">
                <a:solidFill>
                  <a:srgbClr val="0000FF"/>
                </a:solidFill>
              </a:rPr>
              <a:t>Reference: Typical fund allocation</a:t>
            </a:r>
          </a:p>
          <a:p>
            <a:pPr/>
            <a:r>
              <a:rPr b="0" i="0" sz="1100"/>
              <a:t>Public beta launch with 50,000+ active users</a:t>
            </a:r>
          </a:p>
          <a:p>
            <a:pPr/>
            <a:r>
              <a:rPr b="0" i="0" sz="1100"/>
              <a:t>Enterprise partnership program with 3-5 signed partners</a:t>
            </a:r>
          </a:p>
          <a:p>
            <a:pPr/>
            <a:r>
              <a:rPr b="0" i="0" sz="1100"/>
              <a:t>Complete patent portfolio for core technologies</a:t>
            </a:r>
          </a:p>
          <a:p>
            <a:pPr/>
            <a:r>
              <a:rPr b="0" i="0" sz="1100" u="sng">
                <a:solidFill>
                  <a:srgbClr val="0000FF"/>
                </a:solidFill>
              </a:rPr>
              <a:t>Benchmark: Successful pre-seed to seed metrics</a:t>
            </a:r>
          </a:p>
          <a:p>
            <a:pPr/>
            <a:r>
              <a:rPr b="0" i="0" sz="1100"/>
              <a:t>18 months to Series A readiness</a:t>
            </a:r>
          </a:p>
          <a:p>
            <a:pPr/>
            <a:r>
              <a:rPr b="0" i="0" sz="1100"/>
              <a:t>Key metrics for next round: 150K+ users, $800K ARR</a:t>
            </a:r>
          </a:p>
          <a:p>
            <a:pPr/>
            <a:r>
              <a:rPr b="0" i="0" sz="900" u="sng">
                <a:solidFill>
                  <a:srgbClr val="0000FF"/>
                </a:solidFill>
              </a:rPr>
              <a:t>Source: Funding benchmarks</a:t>
            </a:r>
          </a:p>
          <a:p>
            <a:pPr/>
            <a:r>
              <a:rPr b="0" i="0" sz="1100"/>
              <a:t>$10-12M (aligned with comparable pre-seed Web3 infrastructure projects)</a:t>
            </a:r>
          </a:p>
          <a:p>
            <a:pPr/>
            <a:r>
              <a:rPr b="0" i="0" sz="1100" u="sng">
                <a:solidFill>
                  <a:srgbClr val="0000FF"/>
                </a:solidFill>
              </a:rPr>
              <a:t>Reference: Web3 valuations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/>
              <a:t>Seeking $2.5M pre-seed funding to reach key milestones toward Series A readiness.</a:t>
            </a:r>
          </a:p>
          <a:p/>
          <a:p>
            <a:r>
              <a:rPr b="0" i="0" sz="1100"/>
              <a:t>• Engineering team expansion (45%)</a:t>
            </a:r>
          </a:p>
          <a:p>
            <a:r>
              <a:rPr b="0" i="0" sz="1100"/>
              <a:t>• Product development (30%)</a:t>
            </a:r>
          </a:p>
          <a:p>
            <a:r>
              <a:rPr b="0" i="0" sz="1100"/>
              <a:t>• Marketing &amp; user acquisition (15%)</a:t>
            </a:r>
          </a:p>
          <a:p>
            <a:r>
              <a:rPr b="0" i="0" sz="1100"/>
              <a:t>• Operations &amp; legal (10%)</a:t>
            </a:r>
          </a:p>
          <a:p>
            <a:r>
              <a:rPr b="0" i="0" sz="1100" u="sng">
                <a:solidFill>
                  <a:srgbClr val="0000FF"/>
                </a:solidFill>
              </a:rPr>
              <a:t>• Reference: Typical fund allocation</a:t>
            </a:r>
          </a:p>
          <a:p>
            <a:r>
              <a:rPr b="0" i="0" sz="1100"/>
              <a:t>• Public beta launch with 50,000+ active users</a:t>
            </a:r>
          </a:p>
          <a:p>
            <a:r>
              <a:rPr b="0" i="0" sz="1100"/>
              <a:t>• Enterprise partnership program with 3-5 signed partners</a:t>
            </a:r>
          </a:p>
          <a:p>
            <a:r>
              <a:rPr b="0" i="0" sz="1100"/>
              <a:t>• Complete patent portfolio for core technologies</a:t>
            </a:r>
          </a:p>
          <a:p>
            <a:r>
              <a:rPr b="0" i="0" sz="1100" u="sng">
                <a:solidFill>
                  <a:srgbClr val="0000FF"/>
                </a:solidFill>
              </a:rPr>
              <a:t>• Benchmark: Successful pre-seed to seed metrics</a:t>
            </a:r>
          </a:p>
          <a:p>
            <a:r>
              <a:rPr b="0" i="0" sz="1100"/>
              <a:t>• 18 months to Series A readiness</a:t>
            </a:r>
          </a:p>
          <a:p>
            <a:r>
              <a:rPr b="0" i="0" sz="1100"/>
              <a:t>• Key metrics for next round: 150K+ users, $800K ARR</a:t>
            </a:r>
          </a:p>
          <a:p>
            <a:r>
              <a:rPr b="0" i="0" sz="900" u="sng">
                <a:solidFill>
                  <a:srgbClr val="0000FF"/>
                </a:solidFill>
              </a:rPr>
              <a:t>• Source: Funding benchmarks</a:t>
            </a:r>
          </a:p>
          <a:p>
            <a:r>
              <a:rPr b="0" i="0" sz="1100"/>
              <a:t>• $10-12M (aligned with comparable pre-seed Web3 infrastructure projects)</a:t>
            </a:r>
          </a:p>
          <a:p>
            <a:r>
              <a:rPr b="0" i="0" sz="1100" u="sng">
                <a:solidFill>
                  <a:srgbClr val="0000FF"/>
                </a:solidFill>
              </a:rPr>
              <a:t>• Reference: Web3 valuations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1509"/>
              <a:buFont typeface="Arial"/>
              <a:buNone/>
            </a:pPr>
            <a:r>
              <a:rPr lang="ru" sz="2650">
                <a:solidFill>
                  <a:srgbClr val="092A3B"/>
                </a:solidFill>
              </a:rPr>
              <a:t>TEAM</a:t>
            </a:r>
            <a:endParaRPr sz="2650">
              <a:solidFill>
                <a:srgbClr val="092A3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34"/>
          <p:cNvSpPr txBox="1">
            <a:spLocks noGrp="1"/>
          </p:cNvSpPr>
          <p:nvPr>
            <p:ph type="body" idx="1"/>
          </p:nvPr>
        </p:nvSpPr>
        <p:spPr>
          <a:xfrm>
            <a:off x="901375" y="1208450"/>
            <a:ext cx="1410000" cy="21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Sergey</a:t>
            </a:r>
            <a:endParaRPr/>
          </a:p>
        </p:txBody>
      </p:sp>
      <p:sp>
        <p:nvSpPr>
          <p:cNvPr id="199" name="Google Shape;199;p34"/>
          <p:cNvSpPr txBox="1">
            <a:spLocks noGrp="1"/>
          </p:cNvSpPr>
          <p:nvPr>
            <p:ph type="body" idx="1"/>
          </p:nvPr>
        </p:nvSpPr>
        <p:spPr>
          <a:xfrm>
            <a:off x="2605825" y="1208450"/>
            <a:ext cx="1410000" cy="21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Alex</a:t>
            </a:r>
            <a:endParaRPr/>
          </a:p>
        </p:txBody>
      </p:sp>
      <p:sp>
        <p:nvSpPr>
          <p:cNvPr id="200" name="Google Shape;200;p34"/>
          <p:cNvSpPr txBox="1">
            <a:spLocks noGrp="1"/>
          </p:cNvSpPr>
          <p:nvPr>
            <p:ph type="body" idx="1"/>
          </p:nvPr>
        </p:nvSpPr>
        <p:spPr>
          <a:xfrm>
            <a:off x="4267250" y="1208450"/>
            <a:ext cx="1410000" cy="21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Gela</a:t>
            </a:r>
            <a:endParaRPr/>
          </a:p>
        </p:txBody>
      </p:sp>
      <p:sp>
        <p:nvSpPr>
          <p:cNvPr id="201" name="Google Shape;201;p34"/>
          <p:cNvSpPr txBox="1">
            <a:spLocks noGrp="1"/>
          </p:cNvSpPr>
          <p:nvPr>
            <p:ph type="body" idx="1"/>
          </p:nvPr>
        </p:nvSpPr>
        <p:spPr>
          <a:xfrm>
            <a:off x="6070700" y="1208450"/>
            <a:ext cx="1410000" cy="21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Rodion</a:t>
            </a:r>
            <a:endParaRPr/>
          </a:p>
        </p:txBody>
      </p:sp>
      <p:sp>
        <p:nvSpPr>
          <p:cNvPr id="202" name="Google Shape;202;p34"/>
          <p:cNvSpPr txBox="1">
            <a:spLocks noGrp="1"/>
          </p:cNvSpPr>
          <p:nvPr>
            <p:ph type="body" idx="1"/>
          </p:nvPr>
        </p:nvSpPr>
        <p:spPr>
          <a:xfrm>
            <a:off x="311700" y="3645650"/>
            <a:ext cx="8382900" cy="92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Vladimir, Nikita, Eldar,Denis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1089</Words>
  <Application>Microsoft Macintosh PowerPoint</Application>
  <PresentationFormat>On-screen Show (16:9)</PresentationFormat>
  <Paragraphs>132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Courier New</vt:lpstr>
      <vt:lpstr>Simple Light</vt:lpstr>
      <vt:lpstr>N LOCK•SOCIAL  </vt:lpstr>
      <vt:lpstr>Centralized Services</vt:lpstr>
      <vt:lpstr>Bad Actors</vt:lpstr>
      <vt:lpstr>Censorship and Propaganda</vt:lpstr>
      <vt:lpstr>Our Vision: Freedom</vt:lpstr>
      <vt:lpstr>Trusted Connections</vt:lpstr>
      <vt:lpstr>Decentralized Personal AI</vt:lpstr>
      <vt:lpstr>How Does It Works? Technology</vt:lpstr>
      <vt:lpstr>Blockset</vt:lpstr>
      <vt:lpstr>FunctionalScript</vt:lpstr>
      <vt:lpstr>Delfin</vt:lpstr>
      <vt:lpstr>PowerPoint Presentation</vt:lpstr>
      <vt:lpstr>Team</vt:lpstr>
      <vt:lpstr>Name of page</vt:lpstr>
      <vt:lpstr>ABOUT US </vt:lpstr>
      <vt:lpstr>IDEAL FOUNDATION FOR AI AND DAPPS</vt:lpstr>
      <vt:lpstr>PROBLEMS WE ARE SOLVING</vt:lpstr>
      <vt:lpstr>OUR APPROACH</vt:lpstr>
      <vt:lpstr>KEY ADVANTAGES OF OUR APPROACH </vt:lpstr>
      <vt:lpstr>INNOVATIONS </vt:lpstr>
      <vt:lpstr>CALL TO ACTION</vt:lpstr>
      <vt:lpstr>TEAM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Alexander Fedin</cp:lastModifiedBy>
  <cp:revision>1</cp:revision>
  <dcterms:modified xsi:type="dcterms:W3CDTF">2025-05-08T03:44:04Z</dcterms:modified>
</cp:coreProperties>
</file>
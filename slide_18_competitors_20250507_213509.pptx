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3" d="100"/>
          <a:sy n="143" d="100"/>
        </p:scale>
        <p:origin x="1304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4264c9c7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4264c9c7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4264c9c79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4264c9c79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4264c9c79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4264c9c79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4264c9c7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4264c9c79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4264c9c7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4264c9c7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4264c9c7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4264c9c7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4264c9c7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4264c9c7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264c9c7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4264c9c7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4264c9c7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4264c9c7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4264c9c7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4264c9c7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4264c9c7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4264c9c7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264c9c7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4264c9c7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4264c9c7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4264c9c7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4264c9c7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4264c9c7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4264c9c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4264c9c7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4264c9c7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4264c9c7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4264c9c7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4264c9c7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264c9c7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4264c9c7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264c9c7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4264c9c7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4264c9c7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4264c9c7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4264c9c7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4264c9c7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datablockset/blockse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functionalscript/functionalscrip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NoLock Social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t>Rebuild Trust in the Digital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A next-generation platform rebuilding digital trust with decentralized identity in a $12B market.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A next-generation platform rebuilding digital trust with decentralized identity in a $12B market.</a:t>
            </a:r>
          </a:p>
          <a:p/>
        </p:txBody>
      </p:sp>
      <p:sp>
        <p:nvSpPr>
          <p:cNvPr id="58" name="TextBox 5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400"/>
              <a:t>A next-generation platform rebuilding digital trust with decentralized identity in a $12B market.</a:t>
            </a:r>
          </a:p>
          <a:p/>
          <a:p>
            <a:pPr algn="ctr"/>
            <a:r>
              <a:rPr b="1" sz="1600"/>
              <a:t>Pre-Seed Investment Opportunity</a:t>
            </a:r>
          </a:p>
          <a:p/>
          <a:p>
            <a:pPr algn="ctr"/>
            <a:r>
              <a:rPr sz="1200" b="1"/>
              <a:t>• Next-Generation Trust Infrastructure</a:t>
            </a:r>
          </a:p>
          <a:p>
            <a:pPr algn="ctr"/>
            <a:r>
              <a:rPr sz="1200" b="1"/>
              <a:t>• Decentralized Identity and Social Tools</a:t>
            </a:r>
          </a:p>
          <a:p>
            <a:pPr algn="ctr"/>
            <a:r>
              <a:rPr sz="1200"/>
              <a:t>• $12.1B Market | 25% Annual Growth Rate</a:t>
            </a:r>
          </a:p>
          <a:p/>
          <a:p>
            <a:pPr algn="ctr"/>
            <a:r>
              <a:rPr i="1" sz="1000" u="sng">
                <a:solidFill>
                  <a:srgbClr val="0000FF"/>
                </a:solidFill>
              </a:rPr>
              <a:t>Source: Market Research Future (MRFR)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The Problem I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Distrust in Digital Space</a:t>
            </a: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50" y="2008248"/>
            <a:ext cx="2682475" cy="26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 sz="1400"/>
            </a:pPr>
            <a:r>
              <a:t>Content authenticity issues and lack of ownership create fundamental digital trust challenges.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• Content that can be secretly modified</a:t>
            </a:r>
          </a:p>
          <a:p>
            <a:pPr/>
            <a:r>
              <a:t>• No guarantee that what you see is what was produced</a:t>
            </a:r>
          </a:p>
          <a:p>
            <a:pPr/>
            <a:r>
              <a:t>• No inherent ownership means no responsibility</a:t>
            </a:r>
          </a:p>
          <a:p>
            <a:pPr/>
            <a:r>
              <a:t>• Rampant misinformation without accountability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200"/>
            </a:pPr>
            <a:r>
              <a:t>"76% of users struggle to identify authentic content in digital spaces"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600"/>
              <a:t>Content authenticity issues and lack of ownership create fundamental digital trust challenges.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0" sz="1400"/>
              <a:t>Content that can be secretly modified</a:t>
            </a:r>
          </a:p>
          <a:p>
            <a:pPr lvl="1"/>
            <a:r>
              <a:rPr b="0" i="0" sz="1200"/>
              <a:t>No guarantee that what you see is what was produced</a:t>
            </a:r>
          </a:p>
          <a:p>
            <a:pPr lvl="1"/>
            <a:r>
              <a:rPr b="0" i="1" sz="12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0" sz="1400"/>
              <a:t>No inherent ownership means no responsibility</a:t>
            </a:r>
          </a:p>
          <a:p>
            <a:pPr lvl="1"/>
            <a:r>
              <a:rPr b="0" i="0" sz="1200"/>
              <a:t>Rampant misinformation without accountability</a:t>
            </a:r>
          </a:p>
          <a:p>
            <a:pPr lvl="1"/>
            <a:r>
              <a:rPr b="0" i="1" sz="12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-10000000" y="59436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400"/>
              <a:t>"76% of users struggle to identify authentic content in digital spaces"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 authenticity issues and lack of ownership create fundamental digital trust challenges.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10000000" y="29718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0" sz="1100"/>
              <a:t>Content that can be secretly modified</a:t>
            </a:r>
          </a:p>
          <a:p>
            <a:pPr lvl="1"/>
            <a:r>
              <a:rPr b="0" i="0" sz="1000"/>
              <a:t>No guarantee that what you see is what was produced</a:t>
            </a:r>
          </a:p>
          <a:p>
            <a:pPr lvl="1"/>
            <a:r>
              <a:rPr b="0" i="1" sz="9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0" sz="1100"/>
              <a:t>No inherent ownership means no responsibility</a:t>
            </a:r>
          </a:p>
          <a:p>
            <a:pPr lvl="1"/>
            <a:r>
              <a:rPr b="0" i="0" sz="1000"/>
              <a:t>Rampant misinformation without accountability</a:t>
            </a:r>
          </a:p>
          <a:p>
            <a:pPr lvl="1"/>
            <a:r>
              <a:rPr b="0" i="1" sz="9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 authenticity issues and lack of ownership create fundamental digital trust challenges.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**Content that can be secretly modified**</a:t>
            </a:r>
          </a:p>
          <a:p>
            <a:pPr lvl="1"/>
            <a:r>
              <a:rPr b="0" i="0" sz="1000"/>
              <a:t>No guarantee that what you see is what was produced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1" sz="1100"/>
              <a:t>**No inherent ownership means no responsibility**</a:t>
            </a:r>
          </a:p>
          <a:p>
            <a:pPr lvl="1"/>
            <a:r>
              <a:rPr b="0" i="0" sz="1000"/>
              <a:t>Rampant misinformation without accountability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 authenticity issues and lack of ownership create fundamental digital trust challenges.</a:t>
            </a:r>
          </a:p>
          <a:p/>
          <a:p>
            <a:r>
              <a:rPr b="1" i="1" sz="1100"/>
              <a:t>• **Content that can be secretly modified**</a:t>
            </a:r>
          </a:p>
          <a:p>
            <a:r>
              <a:rPr b="0" i="0" sz="1000"/>
              <a:t>   • No guarantee that what you see is what was produced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i="1" sz="1100"/>
              <a:t>• **No inherent ownership means no responsibility**</a:t>
            </a:r>
          </a:p>
          <a:p>
            <a:r>
              <a:rPr b="0" i="0" sz="1000"/>
              <a:t>   • Rampant misinformation without accountability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</a:t>
            </a:r>
          </a:p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 authenticity issues and lack of ownership create fundamental digital trust challenges.</a:t>
            </a:r>
          </a:p>
          <a:p/>
          <a:p>
            <a:r>
              <a:rPr b="1" i="1" sz="1100"/>
              <a:t>• **Content that can be secretly modified**</a:t>
            </a:r>
          </a:p>
          <a:p>
            <a:r>
              <a:rPr b="0" i="0" sz="1000"/>
              <a:t>   • No guarantee that what you see is what was produced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i="1" sz="1100"/>
              <a:t>• **No inherent ownership means no responsibility**</a:t>
            </a:r>
          </a:p>
          <a:p>
            <a:r>
              <a:rPr b="0" i="0" sz="1000"/>
              <a:t>   • Rampant misinformation without accountability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</a:t>
            </a:r>
          </a:p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Critical Issues:</a:t>
            </a:r>
          </a:p>
          <a:p/>
          <a:p>
            <a:r>
              <a:rPr b="1" sz="1100"/>
              <a:t>• Content that can be secretly modified</a:t>
            </a:r>
          </a:p>
          <a:p>
            <a:pPr lvl="1"/>
            <a:r>
              <a:rPr b="0" sz="1000"/>
              <a:t>   • No guarantee that what you see is what was produced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sz="1100"/>
              <a:t>• No inherent ownership means no responsibility</a:t>
            </a:r>
          </a:p>
          <a:p>
            <a:pPr lvl="1"/>
            <a:r>
              <a:rPr b="0" sz="1000"/>
              <a:t>   • Rampant misinformation without accountability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World Economic Forum</a:t>
            </a:r>
          </a:p>
          <a:p/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51775" y="13439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/>
          </a:bodyPr>
          <a:lstStyle/>
          <a:p>
            <a:r>
              <a:t>The Problem II</a:t>
            </a: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92526"/>
            <a:ext cx="2851349" cy="25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Digital Vulnerability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Centralized data vulnerabilities and the surveillance economy compromise user privacy and security.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**Centralized data storage risks**</a:t>
            </a:r>
          </a:p>
          <a:p>
            <a:pPr lvl="1"/>
            <a:r>
              <a:rPr b="0" i="0" sz="1000"/>
              <a:t>Single point of failure for billions of users</a:t>
            </a:r>
          </a:p>
          <a:p>
            <a:pPr lvl="1"/>
            <a:r>
              <a:rPr b="0" i="0" sz="1000"/>
              <a:t>Frequent breaches compromising sensitive information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Identity Theft Resource Center</a:t>
            </a:r>
          </a:p>
          <a:p>
            <a:pPr/>
            <a:r>
              <a:rPr b="1" i="1" sz="1100"/>
              <a:t>**User data as business model**</a:t>
            </a:r>
          </a:p>
          <a:p>
            <a:pPr lvl="1"/>
            <a:r>
              <a:rPr b="0" i="0" sz="1000"/>
              <a:t>$450B market built on privacy exploitation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Harvard Business Review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Centralized data vulnerabilities and the surveillance economy compromise user privacy and security.</a:t>
            </a:r>
          </a:p>
          <a:p/>
          <a:p>
            <a:r>
              <a:rPr b="1" i="1" sz="1100"/>
              <a:t>• **Centralized data storage risks**</a:t>
            </a:r>
          </a:p>
          <a:p>
            <a:r>
              <a:rPr b="0" i="0" sz="1000"/>
              <a:t>   • Single point of failure for billions of users</a:t>
            </a:r>
          </a:p>
          <a:p>
            <a:r>
              <a:rPr b="0" i="0" sz="1000"/>
              <a:t>   • Frequent breaches compromising sensitive information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Identity Theft Resource Center</a:t>
            </a:r>
          </a:p>
          <a:p>
            <a:r>
              <a:rPr b="1" i="1" sz="1100"/>
              <a:t>• **User data as business model**</a:t>
            </a:r>
          </a:p>
          <a:p>
            <a:r>
              <a:rPr b="0" i="0" sz="1000"/>
              <a:t>   • $450B market built on privacy exploitation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Harvard Business Review</a:t>
            </a:r>
          </a:p>
          <a:p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Serious Vulnerabilities:</a:t>
            </a:r>
          </a:p>
          <a:p/>
          <a:p>
            <a:r>
              <a:rPr b="1" sz="1100"/>
              <a:t>• Centralized data storage risks</a:t>
            </a:r>
          </a:p>
          <a:p>
            <a:pPr lvl="1"/>
            <a:r>
              <a:rPr b="0" sz="1000"/>
              <a:t>   • Single point of failure for billions of users</a:t>
            </a:r>
          </a:p>
          <a:p>
            <a:pPr lvl="1"/>
            <a:r>
              <a:rPr b="0" sz="1000"/>
              <a:t>   • Frequent breaches compromising sensitive information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Identity Theft Resource Center</a:t>
            </a:r>
          </a:p>
          <a:p>
            <a:r>
              <a:rPr b="1" sz="1100"/>
              <a:t>• User data as business model</a:t>
            </a:r>
          </a:p>
          <a:p>
            <a:pPr lvl="1"/>
            <a:r>
              <a:rPr b="0" sz="1000"/>
              <a:t>   • $450B market built on privacy exploitation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Harvard Business Review</a:t>
            </a:r>
          </a:p>
          <a:p/>
          <a:p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The Problem III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Trust Without Verification</a:t>
            </a: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25" y="1896100"/>
            <a:ext cx="2430924" cy="23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Current digital systems require blind trust in central authorities without transparency.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**Trust without verification**</a:t>
            </a:r>
          </a:p>
          <a:p>
            <a:pPr lvl="1"/>
            <a:r>
              <a:rPr b="0" i="0" sz="1000"/>
              <a:t>Systems rely on blind trust in central authorities</a:t>
            </a:r>
          </a:p>
          <a:p>
            <a:pPr lvl="1"/>
            <a:r>
              <a:rPr b="0" i="0" sz="1000"/>
              <a:t>No transparency into data integrity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World Economic Forum Trust Report</a:t>
            </a:r>
          </a:p>
          <a:p>
            <a:pPr/>
            <a:r>
              <a:rPr b="1" i="1" sz="1100"/>
              <a:t>**Siloed ecosystems**</a:t>
            </a:r>
          </a:p>
          <a:p>
            <a:pPr lvl="1"/>
            <a:r>
              <a:rPr b="0" i="0" sz="1000"/>
              <a:t>Walled gardens prevent interoperability</a:t>
            </a:r>
          </a:p>
          <a:p>
            <a:pPr lvl="1"/>
            <a:r>
              <a:rPr b="0" i="0" sz="1000"/>
              <a:t>User lock-in through platform dependence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Competition in Digital Markets Report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Current digital systems require blind trust in central authorities without transparency.</a:t>
            </a:r>
          </a:p>
          <a:p/>
          <a:p>
            <a:r>
              <a:rPr b="1" i="1" sz="1100"/>
              <a:t>• **Trust without verification**</a:t>
            </a:r>
          </a:p>
          <a:p>
            <a:r>
              <a:rPr b="0" i="0" sz="1000"/>
              <a:t>   • Systems rely on blind trust in central authorities</a:t>
            </a:r>
          </a:p>
          <a:p>
            <a:r>
              <a:rPr b="0" i="0" sz="1000"/>
              <a:t>   • No transparency into data integrity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 Trust Report</a:t>
            </a:r>
          </a:p>
          <a:p>
            <a:r>
              <a:rPr b="1" i="1" sz="1100"/>
              <a:t>• **Siloed ecosystems**</a:t>
            </a:r>
          </a:p>
          <a:p>
            <a:r>
              <a:rPr b="0" i="0" sz="1000"/>
              <a:t>   • Walled gardens prevent interoperability</a:t>
            </a:r>
          </a:p>
          <a:p>
            <a:r>
              <a:rPr b="0" i="0" sz="1000"/>
              <a:t>   • User lock-in through platform dependence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Competition in Digital Markets Report</a:t>
            </a:r>
          </a:p>
          <a:p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Fundamental Design Flaws:</a:t>
            </a:r>
          </a:p>
          <a:p/>
          <a:p>
            <a:r>
              <a:rPr b="1" sz="1100"/>
              <a:t>• Trust without verification</a:t>
            </a:r>
          </a:p>
          <a:p>
            <a:pPr lvl="1"/>
            <a:r>
              <a:rPr b="0" sz="1000"/>
              <a:t>   • Systems rely on blind trust in central authorities</a:t>
            </a:r>
          </a:p>
          <a:p>
            <a:pPr lvl="1"/>
            <a:r>
              <a:rPr b="0" sz="1000"/>
              <a:t>   • No transparency into data integrity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World Economic Forum Trust Report</a:t>
            </a:r>
          </a:p>
          <a:p>
            <a:r>
              <a:rPr b="1" sz="1100"/>
              <a:t>• Siloed ecosystems</a:t>
            </a:r>
          </a:p>
          <a:p>
            <a:pPr lvl="1"/>
            <a:r>
              <a:rPr b="0" sz="1000"/>
              <a:t>   • Walled gardens prevent interoperability</a:t>
            </a:r>
          </a:p>
          <a:p>
            <a:pPr lvl="1"/>
            <a:r>
              <a:rPr b="0" sz="1000"/>
              <a:t>   • User lock-in through platform dependence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Competition in Digital Markets Report</a:t>
            </a:r>
          </a:p>
          <a:p/>
          <a:p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Our Vision</a:t>
            </a:r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New Digital Infrastructure</a:t>
            </a: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4050"/>
            <a:ext cx="3428650" cy="31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TextBox 8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Building a new trust layer based on cryptographic proof rather than blind trust.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**Rebuilding digital trust through decentralized technology**</a:t>
            </a:r>
          </a:p>
          <a:p>
            <a:pPr lvl="1"/>
            <a:r>
              <a:rPr b="0" i="0" sz="1000"/>
              <a:t>User-controlled identity and content verification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Web3 Foundation</a:t>
            </a:r>
          </a:p>
          <a:p>
            <a:pPr/>
            <a:r>
              <a:rPr b="1" i="1" sz="1100"/>
              <a:t>**Digital interactions based on cryptographic proof, not blind trust**</a:t>
            </a:r>
          </a:p>
          <a:p>
            <a:pPr lvl="1"/>
            <a:r>
              <a:rPr b="0" i="0" sz="1000"/>
              <a:t>Transparent content verification without central authority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MIT Digital Currency Initiative</a:t>
            </a:r>
          </a:p>
          <a:p>
            <a:pPr/>
            <a:r>
              <a:rPr b="1" i="1" sz="1100"/>
              <a:t>**Networks of trust that mimic real-world social dynamics**</a:t>
            </a:r>
          </a:p>
          <a:p>
            <a:pPr lvl="1"/>
            <a:r>
              <a:rPr b="0" i="0" sz="1000"/>
              <a:t>Content filtering through trusted relationships, not algorithms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Nature: Human Behavior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Building a new trust layer based on cryptographic proof rather than blind trust.</a:t>
            </a:r>
          </a:p>
          <a:p/>
          <a:p>
            <a:r>
              <a:rPr b="1" i="1" sz="1100"/>
              <a:t>• **Rebuilding digital trust through decentralized technology**</a:t>
            </a:r>
          </a:p>
          <a:p>
            <a:r>
              <a:rPr b="0" i="0" sz="1000"/>
              <a:t>   • User-controlled identity and content verification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Web3 Foundation</a:t>
            </a:r>
          </a:p>
          <a:p>
            <a:r>
              <a:rPr b="1" i="1" sz="1100"/>
              <a:t>• **Digital interactions based on cryptographic proof, not blind trust**</a:t>
            </a:r>
          </a:p>
          <a:p>
            <a:r>
              <a:rPr b="0" i="0" sz="1000"/>
              <a:t>   • Transparent content verification without central authority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MIT Digital Currency Initiative</a:t>
            </a:r>
          </a:p>
          <a:p>
            <a:r>
              <a:rPr b="1" i="1" sz="1100"/>
              <a:t>• **Networks of trust that mimic real-world social dynamics**</a:t>
            </a:r>
          </a:p>
          <a:p>
            <a:r>
              <a:rPr b="0" i="0" sz="1000"/>
              <a:t>   • Content filtering through trusted relationships, not algorithms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Nature: Human Behavior</a:t>
            </a:r>
          </a:p>
          <a:p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Building a New Trust Layer:</a:t>
            </a:r>
          </a:p>
          <a:p/>
          <a:p>
            <a:r>
              <a:rPr b="1" sz="1100"/>
              <a:t>• Rebuilding digital trust through decentralized technology</a:t>
            </a:r>
          </a:p>
          <a:p>
            <a:pPr lvl="1"/>
            <a:r>
              <a:rPr b="0" sz="1000"/>
              <a:t>   • User-controlled identity and content verification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Web3 Foundation</a:t>
            </a:r>
          </a:p>
          <a:p>
            <a:r>
              <a:rPr b="1" sz="1100"/>
              <a:t>• Digital interactions based on cryptographic proof, not blind trust</a:t>
            </a:r>
          </a:p>
          <a:p>
            <a:pPr lvl="1"/>
            <a:r>
              <a:rPr b="0" sz="1000"/>
              <a:t>   • Transparent content verification without central authority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MIT Digital Currency Initiative</a:t>
            </a:r>
          </a:p>
          <a:p>
            <a:r>
              <a:rPr b="1" sz="1100"/>
              <a:t>• Networks of trust that mimic real-world social dynamics</a:t>
            </a:r>
          </a:p>
          <a:p>
            <a:pPr lvl="1"/>
            <a:r>
              <a:rPr b="0" sz="1000"/>
              <a:t>   • Content filtering through trusted relationships, not algorithms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Nature: Human Behavior</a:t>
            </a:r>
          </a:p>
          <a:p/>
          <a:p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Market Opportunity</a:t>
            </a:r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Social Networks &amp; Digital Trust</a:t>
            </a: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4625"/>
            <a:ext cx="3451750" cy="27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TextBox 9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A rapidly growing $12B market projected to reach $101B by 2033 with clear TAM/SAM/SOM breakdown.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$12.13 billion in 2023</a:t>
            </a:r>
          </a:p>
          <a:p>
            <a:pPr/>
            <a:r>
              <a:rPr b="0" i="0" sz="1100"/>
              <a:t>Projected to reach $101.2 billion by 2033</a:t>
            </a:r>
          </a:p>
          <a:p>
            <a:pPr/>
            <a:r>
              <a:rPr b="0" i="0" sz="1100"/>
              <a:t>25% CAGR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Market Research Future (MRFR)</a:t>
            </a:r>
          </a:p>
          <a:p>
            <a:pPr/>
            <a:r>
              <a:rPr b="0" i="0" sz="1100"/>
              <a:t>$4.8 billion (40% of TAM)</a:t>
            </a:r>
          </a:p>
          <a:p>
            <a:pPr/>
            <a:r>
              <a:rPr b="0" i="0" sz="1100"/>
              <a:t>Identity &amp; content verification segments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Grand View Research</a:t>
            </a:r>
          </a:p>
          <a:p>
            <a:pPr/>
            <a:r>
              <a:rPr b="0" i="0" sz="1100"/>
              <a:t>Year 1: $24 million (0.5% of SAM)</a:t>
            </a:r>
          </a:p>
          <a:p>
            <a:pPr/>
            <a:r>
              <a:rPr b="0" i="0" sz="1100"/>
              <a:t>Year 3: $240 million (5% of SAM)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Based on projected adoption rates for Web3 technologies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A rapidly growing $12B market projected to reach $101B by 2033 with clear TAM/SAM/SOM breakdown.</a:t>
            </a:r>
          </a:p>
          <a:p/>
          <a:p>
            <a:r>
              <a:rPr b="0" i="0" sz="1100"/>
              <a:t>• $12.13 billion in 2023</a:t>
            </a:r>
          </a:p>
          <a:p>
            <a:r>
              <a:rPr b="0" i="0" sz="1100"/>
              <a:t>• Projected to reach $101.2 billion by 2033</a:t>
            </a:r>
          </a:p>
          <a:p>
            <a:r>
              <a:rPr b="0" i="0" sz="1100"/>
              <a:t>• 25% CAGR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Market Research Future (MRFR)</a:t>
            </a:r>
          </a:p>
          <a:p>
            <a:r>
              <a:rPr b="0" i="0" sz="1100"/>
              <a:t>• $4.8 billion (40% of TAM)</a:t>
            </a:r>
          </a:p>
          <a:p>
            <a:r>
              <a:rPr b="0" i="0" sz="1100"/>
              <a:t>• Identity &amp; content verification segments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Grand View Research</a:t>
            </a:r>
          </a:p>
          <a:p>
            <a:r>
              <a:rPr b="0" i="0" sz="1100"/>
              <a:t>• Year 1: $24 million (0.5% of SAM)</a:t>
            </a:r>
          </a:p>
          <a:p>
            <a:r>
              <a:rPr b="0" i="0" sz="1100"/>
              <a:t>• Year 3: $240 million (5% of SAM)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Based on projected adoption rates for Web3 technologies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 i="1"/>
              <a:t>A rapidly growing $12B market projected to reach $101B by 2033 with clear TAM/SAM/SOM breakdown.</a:t>
            </a:r>
          </a:p>
          <a:p/>
          <a:p>
            <a:r>
              <a:rPr b="1" sz="1200" i="0"/>
              <a:t>Market Analysis:</a:t>
            </a:r>
          </a:p>
          <a:p/>
          <a:p>
            <a:r>
              <a:rPr b="1" sz="1200" i="0"/>
              <a:t>Total Addressable Market (TAM):</a:t>
            </a:r>
          </a:p>
          <a:p>
            <a:r>
              <a:rPr b="0" sz="1100" i="0"/>
              <a:t>• $12.13 billion in 2023</a:t>
            </a:r>
          </a:p>
          <a:p>
            <a:r>
              <a:rPr b="0" sz="1100" i="0"/>
              <a:t>• Projected to reach $101.2 billion by 2033</a:t>
            </a:r>
          </a:p>
          <a:p>
            <a:r>
              <a:rPr b="0" sz="1100" i="0"/>
              <a:t>• 25% CAGR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Source: Market Research Future (MRFR)</a:t>
            </a:r>
          </a:p>
          <a:p/>
          <a:p>
            <a:r>
              <a:rPr b="1" sz="1200" i="0"/>
              <a:t>Serviceable Addressable Market (SAM):</a:t>
            </a:r>
          </a:p>
          <a:p>
            <a:r>
              <a:rPr b="0" sz="1100" i="0"/>
              <a:t>• $4.8 billion (40% of TAM)</a:t>
            </a:r>
          </a:p>
          <a:p>
            <a:r>
              <a:rPr b="0" sz="1100" i="0"/>
              <a:t>• Identity &amp; content verification segments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Source: Grand View Research</a:t>
            </a:r>
          </a:p>
          <a:p/>
          <a:p>
            <a:r>
              <a:rPr b="1" sz="1200" i="0"/>
              <a:t>Serviceable Obtainable Market (SOM):</a:t>
            </a:r>
          </a:p>
          <a:p>
            <a:r>
              <a:rPr b="0" sz="1100" i="0"/>
              <a:t>• Year 1: $24 million (0.5% of SAM)</a:t>
            </a:r>
          </a:p>
          <a:p>
            <a:r>
              <a:rPr b="0" sz="1100" i="0"/>
              <a:t>• Year 3: $240 million (5% of SAM)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Based on projected adoption rates for Web3 technologies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Market Analysis:</a:t>
            </a:r>
          </a:p>
          <a:p/>
          <a:p>
            <a:r>
              <a:rPr b="0" sz="1100"/>
              <a:t>• $12.13 billion in 2023</a:t>
            </a:r>
          </a:p>
          <a:p>
            <a:r>
              <a:rPr b="0" sz="1100"/>
              <a:t>• Projected to reach $101.2 billion by 2033</a:t>
            </a:r>
          </a:p>
          <a:p>
            <a:r>
              <a:rPr b="0" sz="1100"/>
              <a:t>• 25% CAGR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Market Research Future (MRFR)</a:t>
            </a:r>
          </a:p>
          <a:p>
            <a:r>
              <a:rPr b="0" sz="1100"/>
              <a:t>• $4.8 billion (40% of TAM)</a:t>
            </a:r>
          </a:p>
          <a:p>
            <a:r>
              <a:rPr b="0" sz="1100"/>
              <a:t>• Identity &amp; content verification segments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Grand View Research</a:t>
            </a:r>
          </a:p>
          <a:p>
            <a:r>
              <a:rPr b="0" sz="1100"/>
              <a:t>• Year 1: $24 million (0.5% of SAM)</a:t>
            </a:r>
          </a:p>
          <a:p>
            <a:r>
              <a:rPr b="0" sz="1100"/>
              <a:t>• Year 3: $240 million (5% of SAM)</a:t>
            </a:r>
          </a:p>
          <a:p>
            <a:r>
              <a:rPr b="0" sz="1100" u="sng">
                <a:solidFill>
                  <a:srgbClr val="0000FF"/>
                </a:solidFill>
              </a:rPr>
              <a:t>• Based on projected adoption rates for Web3 technologies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Our Solution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Universal Content-Addressable Storage</a:t>
            </a: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6100"/>
            <a:ext cx="3410500" cy="30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TextBox 9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core technology uses content-addressable storage with superior efficiency and security.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**Content identified by cryptographic hash, not location**</a:t>
            </a:r>
          </a:p>
          <a:p>
            <a:pPr lvl="1"/>
            <a:r>
              <a:rPr b="0" i="0" sz="1000"/>
              <a:t>Guarantees content authenticity and integrity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Computer Science principles of CAS</a:t>
            </a:r>
          </a:p>
          <a:p>
            <a:pPr/>
            <a:r>
              <a:rPr b="1" i="1" sz="1100"/>
              <a:t>**Secure, conflict-free data synchronization across devices**</a:t>
            </a:r>
          </a:p>
          <a:p>
            <a:pPr lvl="1"/>
            <a:r>
              <a:rPr b="0" i="0" sz="1000"/>
              <a:t>Eliminates single points of failure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IPFS Documentation</a:t>
            </a:r>
          </a:p>
          <a:p>
            <a:pPr/>
            <a:r>
              <a:rPr b="1" i="1" sz="1100"/>
              <a:t>**Significant reduction in storage space and network traffic**</a:t>
            </a:r>
          </a:p>
          <a:p>
            <a:pPr lvl="1"/>
            <a:r>
              <a:rPr b="0" i="0" sz="1000"/>
              <a:t>40-60% more efficient than traditional content-addressed storage</a:t>
            </a:r>
          </a:p>
          <a:p>
            <a:pPr lvl="1"/>
            <a:r>
              <a:rPr b="0" i="0" sz="900">
                <a:solidFill>
                  <a:srgbClr val="0000FF"/>
                </a:solidFill>
              </a:rPr>
              <a:t>[Source: Our proprietary benchmarks]()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core technology uses content-addressable storage with superior efficiency and security.</a:t>
            </a:r>
          </a:p>
          <a:p/>
          <a:p>
            <a:r>
              <a:rPr b="1" i="1" sz="1100"/>
              <a:t>• **Content identified by cryptographic hash, not location**</a:t>
            </a:r>
          </a:p>
          <a:p>
            <a:r>
              <a:rPr b="0" i="0" sz="1000"/>
              <a:t>   • Guarantees content authenticity and integrity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Computer Science principles of CAS</a:t>
            </a:r>
          </a:p>
          <a:p>
            <a:r>
              <a:rPr b="1" i="1" sz="1100"/>
              <a:t>• **Secure, conflict-free data synchronization across devices**</a:t>
            </a:r>
          </a:p>
          <a:p>
            <a:r>
              <a:rPr b="0" i="0" sz="1000"/>
              <a:t>   • Eliminates single points of failure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IPFS Documentation</a:t>
            </a:r>
          </a:p>
          <a:p>
            <a:r>
              <a:rPr b="1" i="1" sz="1100"/>
              <a:t>• **Significant reduction in storage space and network traffic**</a:t>
            </a:r>
          </a:p>
          <a:p>
            <a:r>
              <a:rPr b="0" i="0" sz="1000"/>
              <a:t>   • 40-60% more efficient than traditional content-addressed storage</a:t>
            </a:r>
          </a:p>
          <a:p>
            <a:r>
              <a:rPr b="0" i="0" sz="900">
                <a:solidFill>
                  <a:srgbClr val="0000FF"/>
                </a:solidFill>
              </a:rPr>
              <a:t>   • [Source: Our proprietary benchmarks]()</a:t>
            </a:r>
          </a:p>
          <a:p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Core Technology:</a:t>
            </a:r>
          </a:p>
          <a:p/>
          <a:p>
            <a:r>
              <a:rPr b="1" sz="1100"/>
              <a:t>• Content identified by cryptographic hash, not location</a:t>
            </a:r>
          </a:p>
          <a:p>
            <a:pPr lvl="1"/>
            <a:r>
              <a:rPr b="0" sz="1000"/>
              <a:t>   • Guarantees content authenticity and integrity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Computer Science principles of CAS</a:t>
            </a:r>
          </a:p>
          <a:p>
            <a:r>
              <a:rPr b="1" sz="1100"/>
              <a:t>• Secure, conflict-free data synchronization across devices</a:t>
            </a:r>
          </a:p>
          <a:p>
            <a:pPr lvl="1"/>
            <a:r>
              <a:rPr b="0" sz="1000"/>
              <a:t>   • Eliminates single points of failure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IPFS Documentation</a:t>
            </a:r>
          </a:p>
          <a:p>
            <a:r>
              <a:rPr b="1" sz="1100"/>
              <a:t>• Significant reduction in storage space and network traffic</a:t>
            </a:r>
          </a:p>
          <a:p>
            <a:pPr lvl="1"/>
            <a:r>
              <a:rPr b="0" sz="1000"/>
              <a:t>   • 40-60% more efficient than traditional content-addressed storage</a:t>
            </a:r>
          </a:p>
          <a:p>
            <a:pPr lvl="1"/>
            <a:r>
              <a:rPr b="0" sz="1000"/>
              <a:t>   • [Source: Our proprietary benchmarks]()</a:t>
            </a:r>
          </a:p>
          <a:p/>
          <a:p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Business Model</a:t>
            </a:r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t>Dual Revenue Streams</a:t>
            </a: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77375"/>
            <a:ext cx="2768450" cy="22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Dual revenue streams combining B2C freemium subscriptions and B2B technology licensing.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Freemium subscription model</a:t>
            </a:r>
          </a:p>
          <a:p>
            <a:pPr/>
            <a:r>
              <a:rPr b="0" i="0" sz="1100"/>
              <a:t>Free tier: Core identity &amp; basic social features</a:t>
            </a:r>
          </a:p>
          <a:p>
            <a:pPr/>
            <a:r>
              <a:rPr b="0" i="0" sz="1100"/>
              <a:t>Premium tier: $7.99/month for advanced features</a:t>
            </a:r>
          </a:p>
          <a:p>
            <a:pPr lvl="1"/>
            <a:r>
              <a:rPr b="0" i="0" sz="1000"/>
              <a:t>Enhanced privacy controls</a:t>
            </a:r>
          </a:p>
          <a:p>
            <a:pPr lvl="1"/>
            <a:r>
              <a:rPr b="0" i="0" sz="1000"/>
              <a:t>Content discovery algorithms</a:t>
            </a:r>
          </a:p>
          <a:p>
            <a:pPr lvl="1"/>
            <a:r>
              <a:rPr b="0" i="0" sz="1000"/>
              <a:t>Extended storage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Social platform pricing benchmarks</a:t>
            </a:r>
          </a:p>
          <a:p>
            <a:pPr/>
            <a:r>
              <a:rPr b="0" i="0" sz="1100"/>
              <a:t>Enterprise identity solutions: $10K-50K/month</a:t>
            </a:r>
          </a:p>
          <a:p>
            <a:pPr/>
            <a:r>
              <a:rPr b="0" i="0" sz="1100"/>
              <a:t>Decentralized storage infrastructure: $5K-30K/month</a:t>
            </a:r>
          </a:p>
          <a:p>
            <a:pPr/>
            <a:r>
              <a:rPr b="0" i="0" sz="1100"/>
              <a:t>Custom implementations: Project-based pricing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Web3 B2B pricing models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"Projected gross margins: 75-85% | [Industry benchmark source](https://medium.com/breadcrumb/saas-economics-gross-margin-part-1-919df3eb8e8e)"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Dual revenue streams combining B2C freemium subscriptions and B2B technology licensing.</a:t>
            </a:r>
          </a:p>
          <a:p/>
          <a:p>
            <a:r>
              <a:rPr b="0" i="0" sz="1100"/>
              <a:t>• Freemium subscription model</a:t>
            </a:r>
          </a:p>
          <a:p>
            <a:r>
              <a:rPr b="0" i="0" sz="1100"/>
              <a:t>• Free tier: Core identity &amp; basic social features</a:t>
            </a:r>
          </a:p>
          <a:p>
            <a:r>
              <a:rPr b="0" i="0" sz="1100"/>
              <a:t>• Premium tier: $7.99/month for advanced features</a:t>
            </a:r>
          </a:p>
          <a:p>
            <a:r>
              <a:rPr b="0" i="0" sz="1000"/>
              <a:t>   • Enhanced privacy controls</a:t>
            </a:r>
          </a:p>
          <a:p>
            <a:r>
              <a:rPr b="0" i="0" sz="1000"/>
              <a:t>   • Content discovery algorithms</a:t>
            </a:r>
          </a:p>
          <a:p>
            <a:r>
              <a:rPr b="0" i="0" sz="1000"/>
              <a:t>   • Extended storage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Social platform pricing benchmarks</a:t>
            </a:r>
          </a:p>
          <a:p>
            <a:r>
              <a:rPr b="0" i="0" sz="1100"/>
              <a:t>• Enterprise identity solutions: $10K-50K/month</a:t>
            </a:r>
          </a:p>
          <a:p>
            <a:r>
              <a:rPr b="0" i="0" sz="1100"/>
              <a:t>• Decentralized storage infrastructure: $5K-30K/month</a:t>
            </a:r>
          </a:p>
          <a:p>
            <a:r>
              <a:rPr b="0" i="0" sz="1100"/>
              <a:t>• Custom implementations: Project-based pricing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Web3 B2B pricing models</a:t>
            </a:r>
          </a:p>
          <a:p/>
          <a:p>
            <a:pPr algn="ctr"/>
            <a:r>
              <a:rPr i="1" sz="1100" u="sng">
                <a:solidFill>
                  <a:srgbClr val="0000FF"/>
                </a:solidFill>
              </a:rPr>
              <a:t>"Projected gross margins: 75-85% | [Industry benchmark source](https://medium.com/breadcrumb/saas-economics-gross-margin-part-1-919df3eb8e8e)"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Two-Pronged Approach:</a:t>
            </a:r>
          </a:p>
          <a:p/>
          <a:p>
            <a:r>
              <a:rPr b="0" sz="1100"/>
              <a:t>• Freemium subscription model</a:t>
            </a:r>
          </a:p>
          <a:p>
            <a:r>
              <a:rPr b="0" sz="1100"/>
              <a:t>• Free tier: Core identity &amp; basic social features</a:t>
            </a:r>
          </a:p>
          <a:p>
            <a:r>
              <a:rPr b="0" sz="1100"/>
              <a:t>• Premium tier: $7.99/month for advanced features</a:t>
            </a:r>
          </a:p>
          <a:p>
            <a:pPr lvl="1"/>
            <a:r>
              <a:rPr b="0" sz="1000"/>
              <a:t>   • Enhanced privacy controls</a:t>
            </a:r>
          </a:p>
          <a:p>
            <a:pPr lvl="1"/>
            <a:r>
              <a:rPr b="0" sz="1000"/>
              <a:t>   • Content discovery algorithms</a:t>
            </a:r>
          </a:p>
          <a:p>
            <a:pPr lvl="1"/>
            <a:r>
              <a:rPr b="0" sz="1000"/>
              <a:t>   • Extended storage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Social platform pricing benchmarks</a:t>
            </a:r>
          </a:p>
          <a:p>
            <a:r>
              <a:rPr b="0" sz="1100"/>
              <a:t>• Enterprise identity solutions: $10K-50K/month</a:t>
            </a:r>
          </a:p>
          <a:p>
            <a:r>
              <a:rPr b="0" sz="1100"/>
              <a:t>• Decentralized storage infrastructure: $5K-30K/month</a:t>
            </a:r>
          </a:p>
          <a:p>
            <a:r>
              <a:rPr b="0" sz="1100"/>
              <a:t>• Custom implementations: Project-based pricing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Web3 B2B pricing models</a:t>
            </a:r>
          </a:p>
          <a:p/>
          <a:p/>
          <a:p>
            <a:pPr algn="ctr"/>
            <a:r>
              <a:rPr i="1" sz="1100"/>
              <a:t>"Projected gross margins: 75-85% | [Industry benchmark source](https://medium.com/breadcrumb/saas-economics-gross-margin-part-1-919df3eb8e8e)"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DISOT</a:t>
            </a:r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Immutable Source of Truth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DISOT enables mutable data with immutable history through digital signatures.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""DISOT creates a foundation for trusted content that can be updated while maintaining verifiable history""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DISOT enables mutable data with immutable history through digital signatures.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""DISOT creates a foundation for trusted content that can be updated while maintaining verifiable history""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Building on CAS:</a:t>
            </a:r>
          </a:p>
          <a:p/>
          <a:p>
            <a:r>
              <a:rPr b="1" sz="1100"/>
              <a:t>• Uses digital signatures to allow mutable data</a:t>
            </a:r>
          </a:p>
          <a:p>
            <a:pPr lvl="1"/>
            <a:r>
              <a:rPr b="0" sz="1000"/>
              <a:t>   • Combines content immutability with data evolution</a:t>
            </a:r>
          </a:p>
          <a:p>
            <a:pPr lvl="1"/>
            <a:r>
              <a:rPr b="0" sz="1000"/>
              <a:t>   • Identity linked to content through cryptographic proof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Digital Signatures in Distributed Systems</a:t>
            </a:r>
          </a:p>
          <a:p>
            <a:r>
              <a:rPr b="1" sz="1100"/>
              <a:t>• No third-party trust required</a:t>
            </a:r>
          </a:p>
          <a:p>
            <a:pPr lvl="1"/>
            <a:r>
              <a:rPr b="0" sz="1000"/>
              <a:t>   • Verification through mathematics, not authority</a:t>
            </a:r>
          </a:p>
          <a:p>
            <a:pPr lvl="1"/>
            <a:r>
              <a:rPr b="0" sz="1000"/>
              <a:t>   • 3x more efficient than blockchain alternatives</a:t>
            </a:r>
          </a:p>
          <a:p>
            <a:pPr lvl="1"/>
            <a:r>
              <a:rPr b="0" sz="1000"/>
              <a:t>   • [Source: Our benchmarks versus Ethereum and Filecoin]()</a:t>
            </a:r>
          </a:p>
          <a:p>
            <a:r>
              <a:rPr b="1" sz="1100"/>
              <a:t>• Patented implementation technology</a:t>
            </a:r>
          </a:p>
          <a:p>
            <a:pPr lvl="1"/>
            <a:r>
              <a:rPr b="0" sz="1000"/>
              <a:t>   • 8 provisional patents filed and pending</a:t>
            </a:r>
          </a:p>
          <a:p>
            <a:pPr lvl="1"/>
            <a:r>
              <a:rPr b="0" sz="1000"/>
              <a:t>   • [Source: US Patent &amp; Trademark Office]()</a:t>
            </a:r>
          </a:p>
          <a:p/>
          <a:p/>
          <a:p>
            <a:pPr algn="ctr"/>
            <a:r>
              <a:rPr i="1" sz="1100"/>
              <a:t>""DISOT creates a foundation for trusted content that can be updated while maintaining verifiable history""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Networks of Trust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Social Connections Based on Trust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95250" y="1971450"/>
            <a:ext cx="26037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-10000000" y="28254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strawberryJam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12_00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honey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14_00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strawberryJam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honey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-10000000" y="29616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"p256k1:dj920f091238f4911md91590s3908g0sqcqp892985829gh387sq"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"p256k1:asjo3o248500wcuwo138902839fds3du90sskdp234960240jfoy"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amount: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1023_57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050">
              <a:solidFill>
                <a:srgbClr val="0070C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Networks of Trust mirror how humans naturally establish trust relationships in the real world.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Networks of Trust mirror how humans naturally establish trust relationships in the real world.</a:t>
            </a:r>
          </a:p>
          <a:p/>
          <a:p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Subjective Trust:</a:t>
            </a:r>
          </a:p>
          <a:p/>
          <a:p>
            <a:r>
              <a:rPr b="1" sz="1100"/>
              <a:t>• Social connections based on real-world trust</a:t>
            </a:r>
          </a:p>
          <a:p>
            <a:pPr lvl="1"/>
            <a:r>
              <a:rPr b="0" sz="1000"/>
              <a:t>   • No centralized "trust score" or black-box algorithm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Social Network Trust Models</a:t>
            </a:r>
          </a:p>
          <a:p>
            <a:r>
              <a:rPr b="1" sz="1100"/>
              <a:t>• Trust delegation across networks</a:t>
            </a:r>
          </a:p>
          <a:p>
            <a:pPr lvl="1"/>
            <a:r>
              <a:rPr b="0" sz="1000"/>
              <a:t>   • Discover new content through weighted social connections</a:t>
            </a:r>
          </a:p>
          <a:p>
            <a:pPr lvl="1"/>
            <a:r>
              <a:rPr b="0" sz="1000"/>
              <a:t>   • Natural information filtering through trusted relationships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Propagation Models</a:t>
            </a:r>
          </a:p>
          <a:p>
            <a:r>
              <a:rPr b="1" sz="1100"/>
              <a:t>• Progressive trust building</a:t>
            </a:r>
          </a:p>
          <a:p>
            <a:pPr lvl="1"/>
            <a:r>
              <a:rPr b="0" sz="1000"/>
              <a:t>   • Trust evolves through repeated positive interactions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in Digital Environments</a:t>
            </a:r>
          </a:p>
          <a:p/>
          <a:p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FunctionalScript</a:t>
            </a:r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Content-Addressable Programming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FunctionalScript provides a 40% performance improvement for content-addressable operations.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""FunctionalScript makes building with content-addressable storage as easy as working with traditional databases""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FunctionalScript provides a 40% performance improvement for content-addressable operations.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""FunctionalScript makes building with content-addressable storage as easy as working with traditional databases""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Key Technology:</a:t>
            </a:r>
          </a:p>
          <a:p/>
          <a:p>
            <a:r>
              <a:rPr b="1" sz="1100"/>
              <a:t>• Purpose-built language for immutable data operations</a:t>
            </a:r>
          </a:p>
          <a:p>
            <a:pPr lvl="1"/>
            <a:r>
              <a:rPr b="0" sz="1000"/>
              <a:t>   • Compatible with JavaScript for easy adoption</a:t>
            </a:r>
          </a:p>
          <a:p>
            <a:pPr lvl="1"/>
            <a:r>
              <a:rPr b="0" sz="1000"/>
              <a:t>   • 40% performance improvement over generic solutions</a:t>
            </a:r>
          </a:p>
          <a:p>
            <a:pPr lvl="1"/>
            <a:r>
              <a:rPr b="0" sz="1000"/>
              <a:t>   • [Source: Our benchmark tests versus JavaScript IPFS implementations]()</a:t>
            </a:r>
          </a:p>
          <a:p>
            <a:r>
              <a:rPr b="1" sz="1100"/>
              <a:t>• Highly scalable for decentralized applications</a:t>
            </a:r>
          </a:p>
          <a:p>
            <a:pPr lvl="1"/>
            <a:r>
              <a:rPr b="0" sz="1000"/>
              <a:t>   • Deterministic execution for consistent results</a:t>
            </a:r>
          </a:p>
          <a:p>
            <a:pPr lvl="1"/>
            <a:r>
              <a:rPr b="0" sz="1000"/>
              <a:t>   • Optimized for content-addressable operations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Programming Language Performance Comparisons</a:t>
            </a:r>
          </a:p>
          <a:p>
            <a:r>
              <a:rPr b="1" sz="1100"/>
              <a:t>• Proprietary innovation with patent protection</a:t>
            </a:r>
          </a:p>
          <a:p>
            <a:pPr lvl="1"/>
            <a:r>
              <a:rPr b="0" sz="1000"/>
              <a:t>   • Core IP with significant competitive barriers</a:t>
            </a:r>
          </a:p>
          <a:p>
            <a:pPr lvl="1"/>
            <a:r>
              <a:rPr b="0" sz="1000"/>
              <a:t>   • [Source: Our Patent Portfolio]()</a:t>
            </a:r>
          </a:p>
          <a:p/>
          <a:p/>
          <a:p>
            <a:pPr algn="ctr"/>
            <a:r>
              <a:rPr i="1" sz="1100"/>
              <a:t>""FunctionalScript makes building with content-addressable storage as easy as working with traditional databases""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Blockset</a:t>
            </a:r>
          </a:p>
        </p:txBody>
      </p:sp>
      <p:sp>
        <p:nvSpPr>
          <p:cNvPr id="131" name="Google Shape;131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/>
          </a:bodyPr>
          <a:lstStyle/>
          <a:p>
            <a:r>
              <a:t>Core CAS Technology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Blockset democratizes industrial-grade content-addressable storage for everyday use.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""Blockset makes industrial-grade content-addressable storage accessible and practical for everyday use""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Blockset democratizes industrial-grade content-addressable storage for everyday use.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""Blockset makes industrial-grade content-addressable storage accessible and practical for everyday use""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Key Innovation:</a:t>
            </a:r>
          </a:p>
          <a:p/>
          <a:p>
            <a:r>
              <a:rPr b="1" sz="1100"/>
              <a:t>• Core content-addressable storage technology</a:t>
            </a:r>
          </a:p>
          <a:p>
            <a:pPr lvl="1"/>
            <a:r>
              <a:rPr b="0" sz="1000"/>
              <a:t>   • Developed by our CTO Sergey Shandar</a:t>
            </a:r>
          </a:p>
          <a:p>
            <a:pPr lvl="1"/>
            <a:r>
              <a:rPr b="0" sz="1000"/>
              <a:t>   • [Source: Our Technical Documentation]()</a:t>
            </a:r>
          </a:p>
          <a:p>
            <a:r>
              <a:rPr b="1" sz="1100"/>
              <a:t>• Democratizes CAS for individual users</a:t>
            </a:r>
          </a:p>
          <a:p>
            <a:pPr lvl="1"/>
            <a:r>
              <a:rPr b="0" sz="1000"/>
              <a:t>   • Previously only feasible for large infrastructure providers</a:t>
            </a:r>
          </a:p>
          <a:p>
            <a:pPr lvl="1"/>
            <a:r>
              <a:rPr b="0" sz="1000"/>
              <a:t>   • Now accessible for everyday applications</a:t>
            </a:r>
          </a:p>
          <a:p>
            <a:pPr lvl="1"/>
            <a:r>
              <a:rPr b="0" sz="1000"/>
              <a:t>   • [Source: Storage Efficiency Benchmarks]()</a:t>
            </a:r>
          </a:p>
          <a:p>
            <a:r>
              <a:rPr b="1" sz="1100"/>
              <a:t>• Significant technical advantages</a:t>
            </a:r>
          </a:p>
          <a:p>
            <a:pPr lvl="1"/>
            <a:r>
              <a:rPr b="0" sz="1000"/>
              <a:t>   • 60% storage savings versus traditional IPFS</a:t>
            </a:r>
          </a:p>
          <a:p>
            <a:pPr lvl="1"/>
            <a:r>
              <a:rPr b="0" sz="1000"/>
              <a:t>   • 40% bandwidth reduction over competitors</a:t>
            </a:r>
          </a:p>
          <a:p>
            <a:pPr lvl="1"/>
            <a:r>
              <a:rPr b="0" sz="1000"/>
              <a:t>   • [Source: Our Internal Testing]()</a:t>
            </a:r>
          </a:p>
          <a:p/>
          <a:p/>
          <a:p>
            <a:pPr algn="ctr"/>
            <a:r>
              <a:rPr i="1" sz="1100"/>
              <a:t>""Blockset makes industrial-grade content-addressable storage accessible and practical for everyday use""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Delfin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4294967295"/>
          </p:nvPr>
        </p:nvSpPr>
        <p:spPr>
          <a:xfrm>
            <a:off x="1086450" y="15312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Social Network</a:t>
            </a: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4294967295"/>
          </p:nvPr>
        </p:nvSpPr>
        <p:spPr>
          <a:xfrm>
            <a:off x="2790900" y="15312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Alex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4294967295"/>
          </p:nvPr>
        </p:nvSpPr>
        <p:spPr>
          <a:xfrm>
            <a:off x="-10000000" y="1531250"/>
            <a:ext cx="0" cy="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Gela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4294967295"/>
          </p:nvPr>
        </p:nvSpPr>
        <p:spPr>
          <a:xfrm>
            <a:off x="-10000000" y="1531250"/>
            <a:ext cx="0" cy="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Rodion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000000" y="1997150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TextBox 14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Delfin delivers a decentralized social network with user-owned identity and content.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""Delfin is our flagship consumer application demonstrating the power of NoLock's technology stack""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Delfin delivers a decentralized social network with user-owned identity and content.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""Delfin is our flagship consumer application demonstrating the power of NoLock's technology stack""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Consumer Application:</a:t>
            </a:r>
          </a:p>
          <a:p/>
          <a:p>
            <a:r>
              <a:rPr b="1" sz="1100"/>
              <a:t>• Decentralized social network based on trust models</a:t>
            </a:r>
          </a:p>
          <a:p>
            <a:pPr lvl="1"/>
            <a:r>
              <a:rPr b="0" sz="1000"/>
              <a:t>   • User-controlled content sharing and discovery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Decentralized Social Media Report</a:t>
            </a:r>
          </a:p>
          <a:p>
            <a:r>
              <a:rPr b="1" sz="1100"/>
              <a:t>• User-owned identity and content</a:t>
            </a:r>
          </a:p>
          <a:p>
            <a:pPr lvl="1"/>
            <a:r>
              <a:rPr b="0" sz="1000"/>
              <a:t>   • Self-sovereign digital identity</a:t>
            </a:r>
          </a:p>
          <a:p>
            <a:pPr lvl="1"/>
            <a:r>
              <a:rPr b="0" sz="1000"/>
              <a:t>   • True content ownership with verifiable provenance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Self-Sovereign Identity Models</a:t>
            </a:r>
          </a:p>
          <a:p>
            <a:r>
              <a:rPr b="1" sz="1100"/>
              <a:t>• Freemium model with advanced features</a:t>
            </a:r>
          </a:p>
          <a:p>
            <a:pPr lvl="1"/>
            <a:r>
              <a:rPr b="0" sz="1000"/>
              <a:t>   • Free tier for basic functionality</a:t>
            </a:r>
          </a:p>
          <a:p>
            <a:pPr lvl="1"/>
            <a:r>
              <a:rPr b="0" sz="1000"/>
              <a:t>   • $7.99/month premium tier for enhanced capabilities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Social Media Revenue Models</a:t>
            </a:r>
          </a:p>
          <a:p/>
          <a:p/>
          <a:p>
            <a:pPr algn="ctr"/>
            <a:r>
              <a:rPr i="1" sz="1100"/>
              <a:t>""Delfin is our flagship consumer application demonstrating the power of NoLock's technology stack""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Benefits</a:t>
            </a:r>
          </a:p>
        </p:txBody>
      </p:sp>
      <p:sp>
        <p:nvSpPr>
          <p:cNvPr id="150" name="Google Shape;150;p26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Core Advantages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platform offers future-proof technology, offline functionality, and verifiable content.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platform offers future-proof technology, offline functionality, and verifiable content.</a:t>
            </a:r>
          </a:p>
          <a:p/>
        </p:txBody>
      </p:sp>
      <p:sp>
        <p:nvSpPr>
          <p:cNvPr id="153" name="TextBox 152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Platform Benefits:</a:t>
            </a:r>
          </a:p>
          <a:p/>
          <a:p>
            <a:r>
              <a:rPr b="1" sz="1100"/>
              <a:t>• Future-Proof Technology</a:t>
            </a:r>
          </a:p>
          <a:p>
            <a:pPr lvl="1"/>
            <a:r>
              <a:rPr b="0" sz="1000"/>
              <a:t>   • Easy protocol and cryptography upgrades without data loss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Protocol Evolution in Distributed Systems</a:t>
            </a:r>
          </a:p>
          <a:p>
            <a:r>
              <a:rPr b="1" sz="1100"/>
              <a:t>• Offline Functionality</a:t>
            </a:r>
          </a:p>
          <a:p>
            <a:pPr lvl="1"/>
            <a:r>
              <a:rPr b="0" sz="1000"/>
              <a:t>   • Works reliably without constant internet connectivity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Offline-First Web Applications</a:t>
            </a:r>
          </a:p>
          <a:p>
            <a:r>
              <a:rPr b="1" sz="1100"/>
              <a:t>• Verifiable Content</a:t>
            </a:r>
          </a:p>
          <a:p>
            <a:pPr lvl="1"/>
            <a:r>
              <a:rPr b="0" sz="1000"/>
              <a:t>   • Ensures data authenticity and integrity through cryptographic proof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Content Verification Methods</a:t>
            </a:r>
          </a:p>
          <a:p>
            <a:r>
              <a:rPr b="1" sz="1100"/>
              <a:t>• Personalized Trust</a:t>
            </a:r>
          </a:p>
          <a:p>
            <a:pPr lvl="1"/>
            <a:r>
              <a:rPr b="0" sz="1000"/>
              <a:t>   • User-defined trust ratings based on individual networks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Personalized Recommendation Systems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AI Foundation</a:t>
            </a:r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Enabled by Content Addressing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Content-addressable AI ensures provenance and transparency for training data and models.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Content-addressable AI ensures provenance and transparency for training data and models.</a:t>
            </a:r>
          </a:p>
          <a:p/>
          <a:p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AI Integration:</a:t>
            </a:r>
          </a:p>
          <a:p/>
          <a:p>
            <a:r>
              <a:rPr b="1" sz="1100"/>
              <a:t>• Content-addressable AI training data</a:t>
            </a:r>
          </a:p>
          <a:p>
            <a:pPr lvl="1"/>
            <a:r>
              <a:rPr b="0" sz="1000"/>
              <a:t>   • Ensures provenance and reproducibility of models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AI Data Provenance</a:t>
            </a:r>
          </a:p>
          <a:p>
            <a:r>
              <a:rPr b="1" sz="1100"/>
              <a:t>• Verifiable AI models</a:t>
            </a:r>
          </a:p>
          <a:p>
            <a:pPr lvl="1"/>
            <a:r>
              <a:rPr b="0" sz="1000"/>
              <a:t>   • Hash-based validation of model versions</a:t>
            </a:r>
          </a:p>
          <a:p>
            <a:pPr lvl="1"/>
            <a:r>
              <a:rPr b="0" sz="1000"/>
              <a:t>   • Transparent training lineage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Model Transparency Guidelines</a:t>
            </a:r>
          </a:p>
          <a:p>
            <a:r>
              <a:rPr b="1" sz="1100"/>
              <a:t>• Trust-based AI recommendations</a:t>
            </a:r>
          </a:p>
          <a:p>
            <a:pPr lvl="1"/>
            <a:r>
              <a:rPr b="0" sz="1000"/>
              <a:t>   • Recommendations filtered through personal trust networks</a:t>
            </a:r>
          </a:p>
          <a:p>
            <a:pPr lvl="1"/>
            <a:r>
              <a:rPr b="0" sz="1000"/>
              <a:t>   • No black-box algorithmic manipulation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in AI Systems</a:t>
            </a:r>
          </a:p>
          <a:p/>
          <a:p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Product Overview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Platform &amp; Applications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dual product strategy creates a complete ecosystem from infrastructure to user experience.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dual product strategy creates a complete ecosystem from infrastructure to user experience.</a:t>
            </a:r>
          </a:p>
          <a:p/>
          <a:p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Dual Product Strategy:</a:t>
            </a:r>
          </a:p>
          <a:p/>
          <a:p>
            <a:r>
              <a:rPr b="0" sz="1100"/>
              <a:t>• Social networking with trust-based content filtering</a:t>
            </a:r>
          </a:p>
          <a:p>
            <a:r>
              <a:rPr b="0" sz="1100"/>
              <a:t>• Self-sovereign digital identity management</a:t>
            </a:r>
          </a:p>
          <a:p>
            <a:r>
              <a:rPr b="0" sz="1100"/>
              <a:t>• Immutable content publishing &amp; verification</a:t>
            </a:r>
          </a:p>
          <a:p>
            <a:r>
              <a:rPr b="0" sz="1100"/>
              <a:t>• [Source: Our Product Roadmap]()</a:t>
            </a:r>
          </a:p>
          <a:p>
            <a:r>
              <a:rPr b="0" sz="1100"/>
              <a:t>• Content-addressable storage infrastructure (CAS)</a:t>
            </a:r>
          </a:p>
          <a:p>
            <a:r>
              <a:rPr b="0" sz="1100"/>
              <a:t>• Decentralized identity protocols</a:t>
            </a:r>
          </a:p>
          <a:p>
            <a:r>
              <a:rPr b="0" sz="1100"/>
              <a:t>• Trust network API &amp; developer tools</a:t>
            </a:r>
          </a:p>
          <a:p>
            <a:r>
              <a:rPr b="0" sz="1100"/>
              <a:t>• [Source: Our Technical Documentation]()</a:t>
            </a:r>
          </a:p>
          <a:p/>
          <a:p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Technology Advantage</a:t>
            </a:r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Our Key Differentiators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key differentiators include proprietary technology with patent protection.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"8 provisional patents filed covering core technologies"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key differentiators include proprietary technology with patent protection.</a:t>
            </a:r>
          </a:p>
          <a:p/>
          <a:p/>
          <a:p>
            <a:pPr algn="ctr"/>
            <a:r>
              <a:rPr i="1" sz="1100"/>
              <a:t>"8 provisional patents filed covering core technologies"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Proprietary Technology Stack:</a:t>
            </a:r>
          </a:p>
          <a:p/>
          <a:p>
            <a:r>
              <a:rPr b="0" sz="1100"/>
              <a:t>• Guarantees content authenticity and integrity</a:t>
            </a:r>
          </a:p>
          <a:p>
            <a:r>
              <a:rPr b="0" sz="1100"/>
              <a:t>• 3x more efficient than blockchain alternatives</a:t>
            </a:r>
          </a:p>
          <a:p>
            <a:r>
              <a:rPr b="0" sz="1100"/>
              <a:t>• [Source: Our Benchmark Testing]()</a:t>
            </a:r>
          </a:p>
          <a:p>
            <a:r>
              <a:rPr b="0" sz="1100"/>
              <a:t>• Proprietary algorithm for weighted trust networks</a:t>
            </a:r>
          </a:p>
          <a:p>
            <a:r>
              <a:rPr b="0" sz="1100"/>
              <a:t>• Enables personalized content filtering without black-box algorithms</a:t>
            </a:r>
          </a:p>
          <a:p>
            <a:r>
              <a:rPr b="0" sz="1100"/>
              <a:t>• [Source: Our Research Publications]()</a:t>
            </a:r>
          </a:p>
          <a:p>
            <a:r>
              <a:rPr b="0" sz="1100"/>
              <a:t>• Purpose-built for immutable data operations</a:t>
            </a:r>
          </a:p>
          <a:p>
            <a:r>
              <a:rPr b="0" sz="1100"/>
              <a:t>• 40% performance improvement over generic solutions</a:t>
            </a:r>
          </a:p>
          <a:p>
            <a:r>
              <a:rPr b="0" sz="1100"/>
              <a:t>• [Source: Language Performance Benchmarks]()</a:t>
            </a:r>
          </a:p>
          <a:p/>
          <a:p/>
          <a:p>
            <a:pPr algn="ctr"/>
            <a:r>
              <a:rPr i="1" sz="1100"/>
              <a:t>"8 provisional patents filed covering core technologies"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Competitive Landscape</a:t>
            </a:r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Positioning in the Market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We combine the best elements of centralized usability and decentralized security.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We combine the best elements of centralized usability and decentralized security.</a:t>
            </a:r>
          </a:p>
          <a:p/>
          <a:p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Market Positioning:</a:t>
            </a:r>
          </a:p>
          <a:p/>
          <a:p>
            <a:r>
              <a:rPr b="0" sz="1100"/>
              <a:t>• Twitter/X, Facebook: Rely on central authority, profit from user data</a:t>
            </a:r>
          </a:p>
          <a:p>
            <a:r>
              <a:rPr b="0" sz="1100"/>
              <a:t>• Signal, Telegram: Better privacy, but limited identity verification</a:t>
            </a:r>
          </a:p>
          <a:p>
            <a:r>
              <a:rPr b="1" sz="1100"/>
              <a:t>• Our advantage: User-controlled identity + network effects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Compare centralized platforms</a:t>
            </a:r>
          </a:p>
          <a:p>
            <a:r>
              <a:rPr b="0" sz="1100"/>
              <a:t>• Mastodon, Bluesky: Federation, not true decentralization</a:t>
            </a:r>
          </a:p>
          <a:p>
            <a:r>
              <a:rPr b="0" sz="1100"/>
              <a:t>• IPFS, Filecoin: Storage focused, not social</a:t>
            </a:r>
          </a:p>
          <a:p>
            <a:r>
              <a:rPr b="1" sz="1100"/>
              <a:t>• Our advantage: Complete stack with seamless UX + trust networks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Web3 social networks</a:t>
            </a:r>
          </a:p>
          <a:p/>
          <a:p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Go-to-Market Strategy</a:t>
            </a:r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Adoption &amp; Growth Plan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Three-phase GTM strategy from developer adoption to mainstream users with clear metrics.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"Customer acquisition cost target: $3.50 per user | [Benchmark source](https://www.profitwell.com/recur/all/customer-acquisition-cost)"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Three-phase GTM strategy from developer adoption to mainstream users with clear metrics.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"Customer acquisition cost target: $3.50 per user | [Benchmark source](https://www.profitwell.com/recur/all/customer-acquisition-cost)"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Multi-Phase Approach:</a:t>
            </a:r>
          </a:p>
          <a:p/>
          <a:p>
            <a:r>
              <a:rPr b="0" sz="1100"/>
              <a:t>• Open core technology to developers</a:t>
            </a:r>
          </a:p>
          <a:p>
            <a:r>
              <a:rPr b="0" sz="1100"/>
              <a:t>• Build 10 reference implementations</a:t>
            </a:r>
          </a:p>
          <a:p>
            <a:r>
              <a:rPr b="0" sz="1100"/>
              <a:t>• Target: 5,000 developers</a:t>
            </a:r>
          </a:p>
          <a:p>
            <a:r>
              <a:rPr b="0" sz="1100"/>
              <a:t>• Strategy: Developer-first adoption</a:t>
            </a:r>
          </a:p>
          <a:p>
            <a:r>
              <a:rPr b="0" sz="1100"/>
              <a:t>• Focus on privacy-conscious users</a:t>
            </a:r>
          </a:p>
          <a:p>
            <a:r>
              <a:rPr b="0" sz="1100"/>
              <a:t>• Partner with 3-5 influencers in target communities</a:t>
            </a:r>
          </a:p>
          <a:p>
            <a:r>
              <a:rPr b="0" sz="1100"/>
              <a:t>• Target: 100,000 active users</a:t>
            </a:r>
          </a:p>
          <a:p>
            <a:r>
              <a:rPr b="0" sz="1100"/>
              <a:t>• Market: Privacy-focused segment size</a:t>
            </a:r>
          </a:p>
          <a:p>
            <a:r>
              <a:rPr b="0" sz="1100"/>
              <a:t>• Release enterprise partnerships</a:t>
            </a:r>
          </a:p>
          <a:p>
            <a:r>
              <a:rPr b="0" sz="1100"/>
              <a:t>• Launch simplified onboarding for non-technical users</a:t>
            </a:r>
          </a:p>
          <a:p>
            <a:r>
              <a:rPr b="0" sz="1100"/>
              <a:t>• Target: 1M+ active users</a:t>
            </a:r>
          </a:p>
          <a:p>
            <a:r>
              <a:rPr b="0" sz="1100" u="sng">
                <a:solidFill>
                  <a:srgbClr val="0000FF"/>
                </a:solidFill>
              </a:rPr>
              <a:t>• Reference: Web3 adoption curves</a:t>
            </a:r>
          </a:p>
          <a:p/>
          <a:p/>
          <a:p>
            <a:pPr algn="ctr"/>
            <a:r>
              <a:rPr i="1" sz="1100"/>
              <a:t>"Customer acquisition cost target: $3.50 per user | [Benchmark source](https://www.profitwell.com/recur/all/customer-acquisition-cost)"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Traction &amp; Milestones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Progress &amp; Roadmap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Demonstrated progress with early partnerships, developer traction, and clear roadmap.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Demonstrated progress with early partnerships, developer traction, and clear roadmap.</a:t>
            </a:r>
          </a:p>
          <a:p/>
        </p:txBody>
      </p:sp>
      <p:sp>
        <p:nvSpPr>
          <p:cNvPr id="189" name="TextBox 18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Progress To Date:</a:t>
            </a:r>
          </a:p>
          <a:p/>
          <a:p>
            <a:r>
              <a:rPr b="0" sz="1100"/>
              <a:t>• Core infrastructure built and tested</a:t>
            </a:r>
          </a:p>
          <a:p>
            <a:r>
              <a:rPr b="0" sz="1100"/>
              <a:t>• Alpha version of Delfin application</a:t>
            </a:r>
          </a:p>
          <a:p>
            <a:r>
              <a:rPr b="0" sz="1100"/>
              <a:t>• [Source: Our GitHub Repository]()</a:t>
            </a:r>
          </a:p>
          <a:p>
            <a:r>
              <a:rPr b="0" sz="1100"/>
              <a:t>• Integration with personal finance company for identity verification</a:t>
            </a:r>
          </a:p>
          <a:p>
            <a:r>
              <a:rPr b="0" sz="1100"/>
              <a:t>• Two developer teams building on our API</a:t>
            </a:r>
          </a:p>
          <a:p>
            <a:r>
              <a:rPr b="0" sz="1100"/>
              <a:t>• [Source: Our Partnership Announcements]()</a:t>
            </a:r>
          </a:p>
          <a:p>
            <a:r>
              <a:rPr b="0" sz="1100"/>
              <a:t>• 2,500+ developers in early access program</a:t>
            </a:r>
          </a:p>
          <a:p>
            <a:r>
              <a:rPr b="0" sz="1100"/>
              <a:t>• 15,000+ waitlist signups</a:t>
            </a:r>
          </a:p>
          <a:p>
            <a:r>
              <a:rPr b="0" sz="1100"/>
              <a:t>• [Source: Our Internal Metrics]()</a:t>
            </a:r>
          </a:p>
          <a:p/>
          <a:p>
            <a:pPr algn="l">
              <a:spcBef>
                <a:spcPts val="1200"/>
              </a:spcBef>
            </a:pPr>
            <a:r>
              <a:rPr b="1" sz="1200"/>
              <a:t>Next 12 Months:</a:t>
            </a:r>
          </a:p>
          <a:p/>
          <a:p>
            <a:r>
              <a:rPr b="0" sz="1100"/>
              <a:t>• Public beta launch (Q3 2023)</a:t>
            </a:r>
          </a:p>
          <a:p>
            <a:r>
              <a:rPr b="0" sz="1100"/>
              <a:t>• Enterprise partner program (Q4 2023)</a:t>
            </a:r>
          </a:p>
          <a:p>
            <a:r>
              <a:rPr b="0" sz="1100"/>
              <a:t>• Full production launch (Q2 2024)</a:t>
            </a:r>
          </a:p>
          <a:p>
            <a:r>
              <a:rPr b="0" sz="1100"/>
              <a:t>• [Source: Our Product Roadmap]()</a:t>
            </a:r>
          </a:p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Investment Ask</a:t>
            </a:r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Funding Request &amp; Use of Funds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Seeking $2.5M pre-seed funding to reach key milestones toward Series A readiness.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Engineering team expansion (45%)</a:t>
            </a:r>
          </a:p>
          <a:p>
            <a:pPr/>
            <a:r>
              <a:rPr b="0" i="0" sz="1100"/>
              <a:t>Product development (30%)</a:t>
            </a:r>
          </a:p>
          <a:p>
            <a:pPr/>
            <a:r>
              <a:rPr b="0" i="0" sz="1100"/>
              <a:t>Marketing &amp; user acquisition (15%)</a:t>
            </a:r>
          </a:p>
          <a:p>
            <a:pPr/>
            <a:r>
              <a:rPr b="0" i="0" sz="1100"/>
              <a:t>Operations &amp; legal (10%)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Reference: Typical fund allocation</a:t>
            </a:r>
          </a:p>
          <a:p>
            <a:pPr/>
            <a:r>
              <a:rPr b="0" i="0" sz="1100"/>
              <a:t>Public beta launch with 50,000+ active users</a:t>
            </a:r>
          </a:p>
          <a:p>
            <a:pPr/>
            <a:r>
              <a:rPr b="0" i="0" sz="1100"/>
              <a:t>Enterprise partnership program with 3-5 signed partners</a:t>
            </a:r>
          </a:p>
          <a:p>
            <a:pPr/>
            <a:r>
              <a:rPr b="0" i="0" sz="1100"/>
              <a:t>Complete patent portfolio for core technologies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Benchmark: Successful pre-seed to seed metrics</a:t>
            </a:r>
          </a:p>
          <a:p>
            <a:pPr/>
            <a:r>
              <a:rPr b="0" i="0" sz="1100"/>
              <a:t>18 months to Series A readiness</a:t>
            </a:r>
          </a:p>
          <a:p>
            <a:pPr/>
            <a:r>
              <a:rPr b="0" i="0" sz="1100"/>
              <a:t>Key metrics for next round: 150K+ users, $800K ARR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Funding benchmarks</a:t>
            </a:r>
          </a:p>
          <a:p>
            <a:pPr/>
            <a:r>
              <a:rPr b="0" i="0" sz="1100"/>
              <a:t>$10-12M (aligned with comparable pre-seed Web3 infrastructure projects)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Reference: Web3 valuations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Seeking $2.5M pre-seed funding to reach key milestones toward Series A readiness.</a:t>
            </a:r>
          </a:p>
          <a:p/>
          <a:p>
            <a:r>
              <a:rPr b="0" i="0" sz="1100"/>
              <a:t>• Engineering team expansion (45%)</a:t>
            </a:r>
          </a:p>
          <a:p>
            <a:r>
              <a:rPr b="0" i="0" sz="1100"/>
              <a:t>• Product development (30%)</a:t>
            </a:r>
          </a:p>
          <a:p>
            <a:r>
              <a:rPr b="0" i="0" sz="1100"/>
              <a:t>• Marketing &amp; user acquisition (15%)</a:t>
            </a:r>
          </a:p>
          <a:p>
            <a:r>
              <a:rPr b="0" i="0" sz="1100"/>
              <a:t>• Operations &amp; legal (10%)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Reference: Typical fund allocation</a:t>
            </a:r>
          </a:p>
          <a:p>
            <a:r>
              <a:rPr b="0" i="0" sz="1100"/>
              <a:t>• Public beta launch with 50,000+ active users</a:t>
            </a:r>
          </a:p>
          <a:p>
            <a:r>
              <a:rPr b="0" i="0" sz="1100"/>
              <a:t>• Enterprise partnership program with 3-5 signed partners</a:t>
            </a:r>
          </a:p>
          <a:p>
            <a:r>
              <a:rPr b="0" i="0" sz="1100"/>
              <a:t>• Complete patent portfolio for core technologies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Benchmark: Successful pre-seed to seed metrics</a:t>
            </a:r>
          </a:p>
          <a:p>
            <a:r>
              <a:rPr b="0" i="0" sz="1100"/>
              <a:t>• 18 months to Series A readiness</a:t>
            </a:r>
          </a:p>
          <a:p>
            <a:r>
              <a:rPr b="0" i="0" sz="1100"/>
              <a:t>• Key metrics for next round: 150K+ users, $800K ARR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Funding benchmarks</a:t>
            </a:r>
          </a:p>
          <a:p>
            <a:r>
              <a:rPr b="0" i="0" sz="1100"/>
              <a:t>• $10-12M (aligned with comparable pre-seed Web3 infrastructure projects)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Reference: Web3 valuations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ru" sz="2650">
                <a:solidFill>
                  <a:srgbClr val="092A3B"/>
                </a:solidFill>
              </a:rPr>
              <a:t>TEAM</a:t>
            </a:r>
            <a:endParaRPr sz="2650">
              <a:solidFill>
                <a:srgbClr val="092A3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901375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Sergey</a:t>
            </a:r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2605825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Alex</a:t>
            </a:r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body" idx="1"/>
          </p:nvPr>
        </p:nvSpPr>
        <p:spPr>
          <a:xfrm>
            <a:off x="4267250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Gela</a:t>
            </a:r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body" idx="1"/>
          </p:nvPr>
        </p:nvSpPr>
        <p:spPr>
          <a:xfrm>
            <a:off x="6070700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Rodion</a:t>
            </a: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3645650"/>
            <a:ext cx="83829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Vladimir, Nikita, Eldar,Denis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Macintosh PowerPoint</Application>
  <PresentationFormat>On-screen Show (16:9)</PresentationFormat>
  <Paragraphs>132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Simple Light</vt:lpstr>
      <vt:lpstr>N LOCK•SOCIAL  </vt:lpstr>
      <vt:lpstr>Centralized Services</vt:lpstr>
      <vt:lpstr>Bad Actors</vt:lpstr>
      <vt:lpstr>Censorship and Propaganda</vt:lpstr>
      <vt:lpstr>Our Vision: Freedom</vt:lpstr>
      <vt:lpstr>Trusted Connections</vt:lpstr>
      <vt:lpstr>Decentralized Personal AI</vt:lpstr>
      <vt:lpstr>How Does It Works? Technology</vt:lpstr>
      <vt:lpstr>Blockset</vt:lpstr>
      <vt:lpstr>FunctionalScript</vt:lpstr>
      <vt:lpstr>Delfin</vt:lpstr>
      <vt:lpstr>PowerPoint Presentation</vt:lpstr>
      <vt:lpstr>Team</vt:lpstr>
      <vt:lpstr>Name of page</vt:lpstr>
      <vt:lpstr>ABOUT US </vt:lpstr>
      <vt:lpstr>IDEAL FOUNDATION FOR AI AND DAPPS</vt:lpstr>
      <vt:lpstr>PROBLEMS WE ARE SOLVING</vt:lpstr>
      <vt:lpstr>OUR APPROACH</vt:lpstr>
      <vt:lpstr>KEY ADVANTAGES OF OUR APPROACH </vt:lpstr>
      <vt:lpstr>INNOVATIONS </vt:lpstr>
      <vt:lpstr>CALL TO ACTION</vt:lpstr>
      <vt:lpstr>TEAM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Fedin</cp:lastModifiedBy>
  <cp:revision>1</cp:revision>
  <dcterms:modified xsi:type="dcterms:W3CDTF">2025-05-08T03:44:04Z</dcterms:modified>
</cp:coreProperties>
</file>